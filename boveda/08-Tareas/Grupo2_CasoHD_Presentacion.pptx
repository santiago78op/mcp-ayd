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Buenos días. Somos el Grupo 2. El caso es de Harvard y cuenta cómo Harley-Davidson eligió un</a:t>
            </a:r>
          </a:p>
          <a:p>
            <a:r>
              <a:t>software de compras en 1998. Nuestra tarea no fue elegir el proveedor: fue definir la arquitectura</a:t>
            </a:r>
          </a:p>
          <a:p>
            <a:r>
              <a:t>que ese proyecto, SiL'K, necesitaría hoy. Vamos criterio por criterio de la rúbrica.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Tres datos explican por qué existe SiL'K.</a:t>
            </a:r>
          </a:p>
          <a:p>
            <a:r>
              <a:t>[CLIC] Entre el 55 y el 60 por ciento del valor de una motocicleta son piezas compradas.</a:t>
            </a:r>
          </a:p>
          <a:p>
            <a:r>
              <a:t>[CLIC] El personal de Compras pasa el 85 por ciento de su tiempo en tareas no estratégicas,</a:t>
            </a:r>
          </a:p>
          <a:p>
            <a:r>
              <a:t>cuando la meta era dedicar el 70 por ciento a los proveedores.</a:t>
            </a:r>
          </a:p>
          <a:p>
            <a:r>
              <a:t>[CLIC] Y son siete centros, cada uno con su propio sistema de compras.</a:t>
            </a:r>
          </a:p>
          <a:p/>
          <a:p>
            <a:r>
              <a:t>La trampa del caso es el título: casi todo el relato narra un concurso de proveedores de software,</a:t>
            </a:r>
          </a:p>
          <a:p>
            <a:r>
              <a:t>pero ese no es el negocio. El negocio es la gestión de suministros y compras. Esa frontera decide</a:t>
            </a:r>
          </a:p>
          <a:p>
            <a:r>
              <a:t>todo lo demás: los compradores son trabajadores del negocio, y los actores son el proveedor y las</a:t>
            </a:r>
          </a:p>
          <a:p>
            <a:r>
              <a:t>áreas que piden, reciben y pagan.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Criterio uno. El Producto es el software SiL'K, la elipse del centro; los rectángulos son las</a:t>
            </a:r>
          </a:p>
          <a:p>
            <a:r>
              <a:t>entidades externas. Arriba y a la izquierda están las personas y las áreas; a la derecha, el</a:t>
            </a:r>
          </a:p>
          <a:p>
            <a:r>
              <a:t>suministrador y la recepción; abajo, los sistemas que ya existen. Son diez entidades y diecinueve</a:t>
            </a:r>
          </a:p>
          <a:p>
            <a:r>
              <a:t>flujos, y cada flecha lleva nombre en sustantivo.</a:t>
            </a:r>
          </a:p>
          <a:p/>
          <a:p>
            <a:r>
              <a:t>Un detalle: el comprador aparece aquí como entidad externa al software, aunque dentro del negocio</a:t>
            </a:r>
          </a:p>
          <a:p>
            <a:r>
              <a:t>es un trabajador. Cambia la lente, no la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core es una sola elipse, la gestión de suministros y compras, con seis actores: el proveedor y</a:t>
            </a:r>
          </a:p>
          <a:p>
            <a:r>
              <a:t>cinco áreas. Aplicamos la regla de clase: las áreas son actores, las personas son trabajadores.</a:t>
            </a:r>
          </a:p>
          <a:p/>
          <a:p>
            <a:r>
              <a:t>La primera descomposición tiene cuatro procesos: requisición y pedido, recepción y pago, relación</a:t>
            </a:r>
          </a:p>
          <a:p>
            <a:r>
              <a:t>con suministradores, y compras en proyectos de nuevos productos. Salen de las tres fases del anexo</a:t>
            </a:r>
          </a:p>
          <a:p>
            <a:r>
              <a:t>6b del caso; la primera la partimos en dos porque quien pide no es quien recibe ni quien paga.</a:t>
            </a:r>
          </a:p>
          <a:p/>
          <a:p>
            <a:r>
              <a:t>Quédense con esto: estos cuatro procesos van a ser después los cuatro servicios de la arquitectura.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Criterio dos: diecisiete interesados. Entra a la lista quien aporta un interés que ningún otro trae.</a:t>
            </a:r>
          </a:p>
          <a:p>
            <a:r>
              <a:t>[CLIC] Cinco patrocinan y deciden. [CLIC] Seis usan el sistema: unos 200 compradores, más de</a:t>
            </a:r>
          </a:p>
          <a:p>
            <a:r>
              <a:t>2.000 solicitantes y cuatro áreas vecinas. [CLIC] Cuatro regulan y acompañan, entre ellos el</a:t>
            </a:r>
          </a:p>
          <a:p>
            <a:r>
              <a:t>grupo que fija las normas de arquitectura. [CLIC] Y dos son externos.</a:t>
            </a:r>
          </a:p>
          <a:p/>
          <a:p>
            <a:r>
              <a:t>Ojo: el caso llama «suministrador» tanto al proveedor de piezas como al de software. El primero es</a:t>
            </a:r>
          </a:p>
          <a:p>
            <a:r>
              <a:t>actor del negocio; el segundo solo es stakeholder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Criterio tres: los tres tipos de driver.</a:t>
            </a:r>
          </a:p>
          <a:p>
            <a:r>
              <a:t>[CLIC] Dieciocho funcionales, entregados como casos de uso expandidos: catorce casos en cuatro</a:t>
            </a:r>
          </a:p>
          <a:p>
            <a:r>
              <a:t>diagramas, y ninguno es un «crear, editar o consultar».</a:t>
            </a:r>
          </a:p>
          <a:p>
            <a:r>
              <a:t>[CLIC] Nueve de calidad, escritos como escenarios de atributos de calidad, los EaC, con sus seis</a:t>
            </a:r>
          </a:p>
          <a:p>
            <a:r>
              <a:t>partes: fuente de estímulo, estímulo, artefacto, entorno, respuesta y medida. Sin medida no es un</a:t>
            </a:r>
          </a:p>
          <a:p>
            <a:r>
              <a:t>driver. Los tres de prioridad alta y alta son disponibilidad del 99,9 por ciento, seguridad y</a:t>
            </a:r>
          </a:p>
          <a:p>
            <a:r>
              <a:t>compatibilidad.</a:t>
            </a:r>
          </a:p>
          <a:p>
            <a:r>
              <a:t>[CLIC] Y dieciséis de restricción: no es un ERP, va en tres fases, tiene que ser compatible con</a:t>
            </a:r>
          </a:p>
          <a:p>
            <a:r>
              <a:t>lo existente y no puede parar la línea de producción. Las restricciones no se priorizan.</a:t>
            </a:r>
          </a:p>
          <a:p/>
          <a:p>
            <a:r>
              <a:t>Una aclaración honesta: el caso da cifras de negocio, no de comportamiento del sistema. Las medidas</a:t>
            </a:r>
          </a:p>
          <a:p>
            <a:r>
              <a:t>las derivamos de sus volúmenes y lo declaramos como supuesto.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Criterio cuatro: las cuatro matrices que pide la rúbrica.</a:t>
            </a:r>
          </a:p>
          <a:p>
            <a:r>
              <a:t>[CLIC] Stakeholders contra requerimientos: ningún requerimiento queda sin dueño.</a:t>
            </a:r>
          </a:p>
          <a:p>
            <a:r>
              <a:t>[CLIC] Requerimientos contra casos de uso: todo requerimiento se realiza.</a:t>
            </a:r>
          </a:p>
          <a:p>
            <a:r>
              <a:t>[CLIC] Stakeholders contra casos de uso: no la llenamos a mano, sale de cruzar las dos anteriores,</a:t>
            </a:r>
          </a:p>
          <a:p>
            <a:r>
              <a:t>así que no puede contradecirlas.</a:t>
            </a:r>
          </a:p>
          <a:p>
            <a:r>
              <a:t>[CLIC] Y requerimientos contra requerimientos, que es de dependencias: muestra que el registro</a:t>
            </a:r>
          </a:p>
          <a:p>
            <a:r>
              <a:t>único de suministradores sostiene a otros seis requerimientos. Eso nos dice qué construir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Criterio cinco. El estilo principal es SOA, con un servicio por proceso de negocio. Lo justificamos</a:t>
            </a:r>
          </a:p>
          <a:p>
            <a:r>
              <a:t>con la escalera de la lámina de clase.</a:t>
            </a:r>
          </a:p>
          <a:p>
            <a:r>
              <a:t>[CLIC] Define las necesidades del negocio. [CLIC] Desarrolla los procesos como servicios: son</a:t>
            </a:r>
          </a:p>
          <a:p>
            <a:r>
              <a:t>los cuatro de la descomposición, así que la granularidad ya venía decidida. [CLIC] Cada servicio</a:t>
            </a:r>
          </a:p>
          <a:p>
            <a:r>
              <a:t>evoluciona por separado, una fase a la vez. [CLIC] Y se distribuye en varios niveles: centros,</a:t>
            </a:r>
          </a:p>
          <a:p>
            <a:r>
              <a:t>filiales y suministradores.</a:t>
            </a:r>
          </a:p>
          <a:p/>
          <a:p>
            <a:r>
              <a:t>La razón de fondo es de integración: hay que convivir con los sistemas de cada planta. Lo</a:t>
            </a:r>
          </a:p>
          <a:p>
            <a:r>
              <a:t>complementamos con capas dentro de cada servicio y eventos entre servicios. Y descartamos el</a:t>
            </a:r>
          </a:p>
          <a:p>
            <a:r>
              <a:t>monolítico porque el propio equipo dijo que no buscaba un ERP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Este es el diagrama de bloques, con el molde del ejemplo de clase: a la izquierda los productores</a:t>
            </a:r>
          </a:p>
          <a:p>
            <a:r>
              <a:t>de eventos, al centro el enrutador y a la derecha los consumidores. Cada flecha lleva el evento que</a:t>
            </a:r>
          </a:p>
          <a:p>
            <a:r>
              <a:t>transporta. Quien produce un evento no conoce a quien lo consume: si el sistema de una planta se</a:t>
            </a:r>
          </a:p>
          <a:p>
            <a:r>
              <a:t>cae, los demás siguen. Eso responde a la restricción de no parar la 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despliegue tiene cuatro zonas. Arriba, en verde, los dispositivos: la PC, la tableta del muelle</a:t>
            </a:r>
          </a:p>
          <a:p>
            <a:r>
              <a:t>y el suministrador por Internet. Al centro, en naranja, la nube: una sola entrada, el clúster con un</a:t>
            </a:r>
          </a:p>
          <a:p>
            <a:r>
              <a:t>servicio por proceso, el bus de eventos y la base de datos con su réplica. A la derecha, en</a:t>
            </a:r>
          </a:p>
          <a:p>
            <a:r>
              <a:t>amarillo, lo que ya existe: el MRP de cada planta y Cuentas de Acreedores.</a:t>
            </a:r>
          </a:p>
          <a:p/>
          <a:p>
            <a:r>
              <a:t>Lo existente no se mueve: se conecta. El caso no trae hardware, así que el dimensionamiento es un</a:t>
            </a:r>
          </a:p>
          <a:p>
            <a:r>
              <a:t>supuesto declarado.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Criterio seis, que tiene dos partes. La primera: los siete pasos para definir la arquitectura. En</a:t>
            </a:r>
          </a:p>
          <a:p>
            <a:r>
              <a:t>el documento indicamos, paso por paso, qué drivers de calidad y de restricción lo condicionan; por</a:t>
            </a:r>
          </a:p>
          <a:p>
            <a:r>
              <a:t>ejemplo, las tres fases y no parar la línea condicionan la implementación.</a:t>
            </a:r>
          </a:p>
          <a:p/>
          <a:p>
            <a:r>
              <a:t>[CLIC] La segunda: el modelo de calidad. Seguimos el pensamiento ISO como familia de normas. La</a:t>
            </a:r>
          </a:p>
          <a:p>
            <a:r>
              <a:t>9126 tiene seis características; la serie 25000 la sucede, y adoptamos la 25010 porque ahí</a:t>
            </a:r>
          </a:p>
          <a:p>
            <a:r>
              <a:t>seguridad y compatibilidad son características de primer nivel, y son las que más pesan en este</a:t>
            </a:r>
          </a:p>
          <a:p>
            <a:r>
              <a:t>caso. Cada característica queda con su escenario, su decisión de arquitectura y su umbral.</a:t>
            </a:r>
          </a:p>
          <a:p>
            <a:r>
              <a:t>[CLIC] Y se mide dos veces: antes de construir y al cerrar cada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cerrar, tres ideas. [CLIC] Los cuatro procesos son los cuatro servicios. [CLIC] Lo</a:t>
            </a:r>
          </a:p>
          <a:p>
            <a:r>
              <a:t>existente se integra por eventos, no se reemplaza. [CLIC] Y cada escenario de calidad tiene</a:t>
            </a:r>
          </a:p>
          <a:p>
            <a:r>
              <a:t>medida y umbral.</a:t>
            </a:r>
          </a:p>
          <a:p/>
          <a:p>
            <a:r>
              <a:t>No elegimos proveedor porque el caso no lo decide y la rúbrica no lo pide: la arquitectura sirve</a:t>
            </a:r>
          </a:p>
          <a:p>
            <a:r>
              <a:t>con cualquiera de los tres finalistas. Gracias. ¿Preguntas?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respaldo, no se expone. El caso es de Harvard; el formato de los escenarios de calidad viene de Bass, Clements y Kazman, que es el libro de la bibliografía del curso; el modelo de calidad, de las normas ISO; la plantilla de las matrices, de la nota técnica de trazabilidad; y la notación y los moldes, de las presentaciones de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90080" y="812800"/>
            <a:ext cx="24117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Harley-Davidson</a:t>
            </a:r>
            <a:endParaRPr lang="en-US" sz="15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073504" y="2113955"/>
            <a:ext cx="4044942" cy="1930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15000"/>
              </a:lnSpc>
              <a:buNone/>
            </a:pPr>
            <a:r>
              <a:rPr lang="en-US" sz="15000" b="1" i="0" spc="-5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SiL'K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1844675" y="4171355"/>
            <a:ext cx="8502650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arquitectura que necesita el proyecto, traída al presente.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64396" y="5555059"/>
            <a:ext cx="56632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2 · Análisis y Diseño de Sistemas II · 13 de octubre de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87643" y="5831880"/>
            <a:ext cx="52166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Santiago Barrera · Jemima Chavajay · Elías Vasquez · Byron Par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531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negocio es la gestión de suministros. </a:t>
            </a:r>
            <a:r>
              <a:rPr lang="en-US" sz="3200" b="1" i="0" spc="-100" kern="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la selección del software.</a:t>
            </a:r>
            <a:endParaRPr lang="en-US" sz="3200" dirty="0"/>
          </a:p>
        </p:txBody>
      </p:sp>
      <p:pic>
        <p:nvPicPr>
          <p:cNvPr id="4" name="Image 0" descr="Wrenc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984500"/>
            <a:ext cx="355600" cy="355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3429000"/>
            <a:ext cx="3348736" cy="736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55-60 %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812800" y="4229100"/>
            <a:ext cx="334873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valor de una motocicleta son piezas compradas</a:t>
            </a:r>
            <a:endParaRPr lang="en-US" sz="1500" dirty="0"/>
          </a:p>
        </p:txBody>
      </p:sp>
      <p:pic>
        <p:nvPicPr>
          <p:cNvPr id="7" name="Image 1" descr="C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70400" y="2984500"/>
            <a:ext cx="355600" cy="355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70400" y="3429000"/>
            <a:ext cx="3348736" cy="736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85 %</a:t>
            </a:r>
            <a:endParaRPr lang="en-US" sz="5600" dirty="0"/>
          </a:p>
        </p:txBody>
      </p:sp>
      <p:sp>
        <p:nvSpPr>
          <p:cNvPr id="9" name="Text 5"/>
          <p:cNvSpPr/>
          <p:nvPr/>
        </p:nvSpPr>
        <p:spPr>
          <a:xfrm>
            <a:off x="4470400" y="4229100"/>
            <a:ext cx="334873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tiempo de Compras se va en tareas no estratégicas</a:t>
            </a:r>
            <a:endParaRPr lang="en-US" sz="1500" dirty="0"/>
          </a:p>
        </p:txBody>
      </p:sp>
      <p:pic>
        <p:nvPicPr>
          <p:cNvPr id="10" name="Image 2" descr="Setting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0" y="2984500"/>
            <a:ext cx="355600" cy="355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28000" y="3429000"/>
            <a:ext cx="3348736" cy="736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600" dirty="0"/>
          </a:p>
        </p:txBody>
      </p:sp>
      <p:sp>
        <p:nvSpPr>
          <p:cNvPr id="12" name="Text 7"/>
          <p:cNvSpPr/>
          <p:nvPr/>
        </p:nvSpPr>
        <p:spPr>
          <a:xfrm>
            <a:off x="8128000" y="4229100"/>
            <a:ext cx="334873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centros, cada uno con su propio sistema de compras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812800" y="6238280"/>
            <a:ext cx="98107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Austin, Sole y Cotteleer, caso HBS 606-S14, págs. 4 y 8, anexos 2a y 6a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337147"/>
            <a:ext cx="28778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1 · Caso de negocio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702868"/>
            <a:ext cx="2877820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contexto.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3749328"/>
            <a:ext cx="2877820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entidades alrededor del producto y diecinueve flujos, todos con nombre.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962400" y="812800"/>
            <a:ext cx="7416800" cy="523240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</p:spPr>
      </p:sp>
      <p:pic>
        <p:nvPicPr>
          <p:cNvPr id="6" name="Image 0" descr="Diagrama de contexto de SiL'K: la elipse del producto al centro, diez entidades alrededor y un flujo con nombre en cada sentido">    </p:cNvPr>
          <p:cNvPicPr>
            <a:picLocks noChangeAspect="1"/>
          </p:cNvPicPr>
          <p:nvPr/>
        </p:nvPicPr>
        <p:blipFill>
          <a:blip r:embed="rId1"/>
          <a:srcRect l="0" r="0" t="-2041" b="-2041"/>
          <a:stretch/>
        </p:blipFill>
        <p:spPr>
          <a:xfrm>
            <a:off x="4089400" y="939800"/>
            <a:ext cx="7162800" cy="4978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746895"/>
            <a:ext cx="28778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1 · Caso de negocio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112615"/>
            <a:ext cx="2877820" cy="1366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actores. Cuatro procesos.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3606105"/>
            <a:ext cx="287782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Requisición y pedido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3942655"/>
            <a:ext cx="287782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Recepción y pago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4279205"/>
            <a:ext cx="3149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Relación con suministradores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12800" y="4615755"/>
            <a:ext cx="287782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Compras en nuevos productos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962400" y="812800"/>
            <a:ext cx="7416800" cy="523240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</p:spPr>
      </p:sp>
      <p:pic>
        <p:nvPicPr>
          <p:cNvPr id="9" name="Image 0" descr="CDU primera descomposición: cuatro procesos de negocio en columna, el proveedor a la izquierda y cinco áreas a la derecha">    </p:cNvPr>
          <p:cNvPicPr>
            <a:picLocks noChangeAspect="1"/>
          </p:cNvPicPr>
          <p:nvPr/>
        </p:nvPicPr>
        <p:blipFill>
          <a:blip r:embed="rId1"/>
          <a:srcRect l="-2269" r="-2269" t="0" b="0"/>
          <a:stretch/>
        </p:blipFill>
        <p:spPr>
          <a:xfrm>
            <a:off x="4089400" y="939800"/>
            <a:ext cx="7162800" cy="4978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2 · Stakeholders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53120"/>
            <a:ext cx="11379200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Diecisiete interesados. </a:t>
            </a:r>
            <a:r>
              <a:rPr lang="en-US" sz="3200" b="1" i="0" spc="-100" kern="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con un interés propio.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794000"/>
            <a:ext cx="2527300" cy="3251200"/>
          </a:xfrm>
          <a:prstGeom prst="roundRect">
            <a:avLst>
              <a:gd name="adj" fmla="val 7035"/>
            </a:avLst>
          </a:prstGeom>
          <a:solidFill>
            <a:srgbClr val="1A1A1E"/>
          </a:solidFill>
          <a:ln/>
        </p:spPr>
      </p:sp>
      <p:pic>
        <p:nvPicPr>
          <p:cNvPr id="5" name="Image 0" descr="Key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1400" y="3022600"/>
            <a:ext cx="304800" cy="30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41400" y="3403600"/>
            <a:ext cx="213220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1041400" y="4191000"/>
            <a:ext cx="21322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Patrocinan y deciden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41400" y="4495800"/>
            <a:ext cx="2132203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Vicepresidentes, dirección de Compras y Sistemas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92500" y="2794000"/>
            <a:ext cx="2527300" cy="3251200"/>
          </a:xfrm>
          <a:prstGeom prst="roundRect">
            <a:avLst>
              <a:gd name="adj" fmla="val 7035"/>
            </a:avLst>
          </a:prstGeom>
          <a:solidFill>
            <a:srgbClr val="1A1A1E"/>
          </a:solidFill>
          <a:ln/>
        </p:spPr>
      </p:sp>
      <p:pic>
        <p:nvPicPr>
          <p:cNvPr id="10" name="Image 1" descr="User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21100" y="3022600"/>
            <a:ext cx="304800" cy="304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21100" y="3403600"/>
            <a:ext cx="213220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600" dirty="0"/>
          </a:p>
        </p:txBody>
      </p:sp>
      <p:sp>
        <p:nvSpPr>
          <p:cNvPr id="12" name="Text 8"/>
          <p:cNvSpPr/>
          <p:nvPr/>
        </p:nvSpPr>
        <p:spPr>
          <a:xfrm>
            <a:off x="3721100" y="4191000"/>
            <a:ext cx="21322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721100" y="4495800"/>
            <a:ext cx="2132203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Compradores, solicitantes y cuatro áreas vecinas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72200" y="2794000"/>
            <a:ext cx="2527300" cy="3251200"/>
          </a:xfrm>
          <a:prstGeom prst="roundRect">
            <a:avLst>
              <a:gd name="adj" fmla="val 7035"/>
            </a:avLst>
          </a:prstGeom>
          <a:solidFill>
            <a:srgbClr val="1A1A1E"/>
          </a:solidFill>
          <a:ln/>
        </p:spPr>
      </p:sp>
      <p:pic>
        <p:nvPicPr>
          <p:cNvPr id="15" name="Image 2" descr="Verified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3022600"/>
            <a:ext cx="304800" cy="304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0800" y="3403600"/>
            <a:ext cx="213220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600" dirty="0"/>
          </a:p>
        </p:txBody>
      </p:sp>
      <p:sp>
        <p:nvSpPr>
          <p:cNvPr id="17" name="Text 12"/>
          <p:cNvSpPr/>
          <p:nvPr/>
        </p:nvSpPr>
        <p:spPr>
          <a:xfrm>
            <a:off x="6400800" y="4191000"/>
            <a:ext cx="2298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Regulan y acompañan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0" y="4495800"/>
            <a:ext cx="2132203" cy="642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Arquitecturas, cambio, procesos y el director del proyecto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851900" y="2794000"/>
            <a:ext cx="2527300" cy="3251200"/>
          </a:xfrm>
          <a:prstGeom prst="roundRect">
            <a:avLst>
              <a:gd name="adj" fmla="val 7035"/>
            </a:avLst>
          </a:prstGeom>
          <a:solidFill>
            <a:srgbClr val="1A1A1E"/>
          </a:solidFill>
          <a:ln/>
        </p:spPr>
      </p:sp>
      <p:pic>
        <p:nvPicPr>
          <p:cNvPr id="20" name="Image 3" descr="Glob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80500" y="3022600"/>
            <a:ext cx="304800" cy="3048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80500" y="3403600"/>
            <a:ext cx="213220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600" dirty="0"/>
          </a:p>
        </p:txBody>
      </p:sp>
      <p:sp>
        <p:nvSpPr>
          <p:cNvPr id="22" name="Text 16"/>
          <p:cNvSpPr/>
          <p:nvPr/>
        </p:nvSpPr>
        <p:spPr>
          <a:xfrm>
            <a:off x="9080500" y="4191000"/>
            <a:ext cx="21322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9080500" y="4495800"/>
            <a:ext cx="2132203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Suministradores de piezas y proveedor del software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3 · Drivers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531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tipos de driver. </a:t>
            </a:r>
            <a:r>
              <a:rPr lang="en-US" sz="3200" b="1" i="0" spc="-100" kern="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se entrega distinto.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794000"/>
            <a:ext cx="3384550" cy="3251200"/>
          </a:xfrm>
          <a:prstGeom prst="roundRect">
            <a:avLst>
              <a:gd name="adj" fmla="val 5469"/>
            </a:avLst>
          </a:prstGeom>
          <a:solidFill>
            <a:srgbClr val="1A1A1E"/>
          </a:solidFill>
          <a:ln/>
        </p:spPr>
      </p:sp>
      <p:pic>
        <p:nvPicPr>
          <p:cNvPr id="5" name="Image 0" descr="Too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800" y="3048000"/>
            <a:ext cx="304800" cy="30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66800" y="3429000"/>
            <a:ext cx="2962847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1066800" y="4216400"/>
            <a:ext cx="296284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Funcionales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66800" y="4613870"/>
            <a:ext cx="2962847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casos de uso en cuatro diagramas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00550" y="2794000"/>
            <a:ext cx="3384550" cy="3251200"/>
          </a:xfrm>
          <a:prstGeom prst="roundRect">
            <a:avLst>
              <a:gd name="adj" fmla="val 5469"/>
            </a:avLst>
          </a:prstGeom>
          <a:solidFill>
            <a:srgbClr val="1A1A1E"/>
          </a:solidFill>
          <a:ln/>
        </p:spPr>
      </p:sp>
      <p:pic>
        <p:nvPicPr>
          <p:cNvPr id="10" name="Image 1" descr="Activity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54550" y="3048000"/>
            <a:ext cx="304800" cy="304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54550" y="3429000"/>
            <a:ext cx="2962847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5600" dirty="0"/>
          </a:p>
        </p:txBody>
      </p:sp>
      <p:sp>
        <p:nvSpPr>
          <p:cNvPr id="12" name="Text 8"/>
          <p:cNvSpPr/>
          <p:nvPr/>
        </p:nvSpPr>
        <p:spPr>
          <a:xfrm>
            <a:off x="4654550" y="4216400"/>
            <a:ext cx="296284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calidad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654550" y="4613870"/>
            <a:ext cx="2962847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Escenarios EAC de seis partes, con medida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994650" y="2794000"/>
            <a:ext cx="3384550" cy="3251200"/>
          </a:xfrm>
          <a:prstGeom prst="roundRect">
            <a:avLst>
              <a:gd name="adj" fmla="val 5469"/>
            </a:avLst>
          </a:prstGeom>
          <a:solidFill>
            <a:srgbClr val="1A1A1E"/>
          </a:solidFill>
          <a:ln/>
        </p:spPr>
      </p:sp>
      <p:pic>
        <p:nvPicPr>
          <p:cNvPr id="15" name="Image 2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48650" y="3048000"/>
            <a:ext cx="304800" cy="304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48650" y="3429000"/>
            <a:ext cx="2962847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spc="-200" kern="0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5600" dirty="0"/>
          </a:p>
        </p:txBody>
      </p:sp>
      <p:sp>
        <p:nvSpPr>
          <p:cNvPr id="17" name="Text 12"/>
          <p:cNvSpPr/>
          <p:nvPr/>
        </p:nvSpPr>
        <p:spPr>
          <a:xfrm>
            <a:off x="8248650" y="4216400"/>
            <a:ext cx="296284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restricción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248650" y="4613870"/>
            <a:ext cx="2962847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 ERP y no puede parar la línea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4 · Trazabilidad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531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matrices. </a:t>
            </a:r>
            <a:r>
              <a:rPr lang="en-US" sz="3200" b="1" i="0" spc="-100" kern="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Acopladas entre sí.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540000"/>
            <a:ext cx="105664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2200" y="2768600"/>
            <a:ext cx="43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76400" y="2789238"/>
            <a:ext cx="4185920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Stakeholders vs. Requerimientos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0" y="2789238"/>
            <a:ext cx="5310886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requerimiento sin dueño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2800" y="3429000"/>
            <a:ext cx="105664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092200" y="3657600"/>
            <a:ext cx="43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76400" y="3678238"/>
            <a:ext cx="4185920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Requerimientos vs. Casos de Uso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3678238"/>
            <a:ext cx="5310886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requerimiento se realiza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2800" y="4318000"/>
            <a:ext cx="105664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2200" y="4546600"/>
            <a:ext cx="43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76400" y="4567238"/>
            <a:ext cx="4185920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Stakeholders vs. Casos de Uso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43600" y="4567238"/>
            <a:ext cx="5310886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 cruzar las dos anteriores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2800" y="5207000"/>
            <a:ext cx="105664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92200" y="5435600"/>
            <a:ext cx="43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76400" y="5456238"/>
            <a:ext cx="4185920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Requerimientos vs. Requerimientos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0" y="5456238"/>
            <a:ext cx="5310886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Muestra qué construir primero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5 · Estilo arquitectónico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531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SOA. </a:t>
            </a:r>
            <a:r>
              <a:rPr lang="en-US" sz="3200" b="1" i="0" spc="-100" kern="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servicio por proceso de negocio.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4140200"/>
            <a:ext cx="2527300" cy="1905000"/>
          </a:xfrm>
          <a:prstGeom prst="roundRect">
            <a:avLst>
              <a:gd name="adj" fmla="val 9333"/>
            </a:avLst>
          </a:prstGeom>
          <a:solidFill>
            <a:srgbClr val="1A1A1E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4368800"/>
            <a:ext cx="21322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41400" y="4711700"/>
            <a:ext cx="2132203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41400" y="5096470"/>
            <a:ext cx="2132203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necesidades del negocio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2500" y="3759200"/>
            <a:ext cx="2527300" cy="2286000"/>
          </a:xfrm>
          <a:prstGeom prst="roundRect">
            <a:avLst>
              <a:gd name="adj" fmla="val 7778"/>
            </a:avLst>
          </a:prstGeom>
          <a:solidFill>
            <a:srgbClr val="1A1A1E"/>
          </a:solidFill>
          <a:ln/>
        </p:spPr>
      </p:sp>
      <p:sp>
        <p:nvSpPr>
          <p:cNvPr id="9" name="Text 7"/>
          <p:cNvSpPr/>
          <p:nvPr/>
        </p:nvSpPr>
        <p:spPr>
          <a:xfrm>
            <a:off x="3721100" y="3987800"/>
            <a:ext cx="21322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721100" y="4330700"/>
            <a:ext cx="2132203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721100" y="4715470"/>
            <a:ext cx="2132203" cy="642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procesos como servicios: los cuatro de la descomposición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3378200"/>
            <a:ext cx="2527300" cy="2667000"/>
          </a:xfrm>
          <a:prstGeom prst="roundRect">
            <a:avLst>
              <a:gd name="adj" fmla="val 7035"/>
            </a:avLst>
          </a:prstGeom>
          <a:solidFill>
            <a:srgbClr val="1A1A1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3606800"/>
            <a:ext cx="21322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0" y="3949700"/>
            <a:ext cx="2132203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Evoluciona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0" y="4334470"/>
            <a:ext cx="2132203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servicio por separado, una fase a la vez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900" y="2997200"/>
            <a:ext cx="2527300" cy="3048000"/>
          </a:xfrm>
          <a:prstGeom prst="roundRect">
            <a:avLst>
              <a:gd name="adj" fmla="val 7035"/>
            </a:avLst>
          </a:prstGeom>
          <a:solidFill>
            <a:srgbClr val="1A1A1E"/>
          </a:solidFill>
          <a:ln/>
        </p:spPr>
      </p:sp>
      <p:sp>
        <p:nvSpPr>
          <p:cNvPr id="17" name="Text 15"/>
          <p:cNvSpPr/>
          <p:nvPr/>
        </p:nvSpPr>
        <p:spPr>
          <a:xfrm>
            <a:off x="9080500" y="3225800"/>
            <a:ext cx="21322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080500" y="3568700"/>
            <a:ext cx="2132203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Distribuye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080500" y="3953470"/>
            <a:ext cx="2132203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A1A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varios niveles: centros, filiales y suministradores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65735"/>
            <a:ext cx="28778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5 · Diagrama de bloques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831455"/>
            <a:ext cx="2877820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Basada en eventos.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3877915"/>
            <a:ext cx="287782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produce un evento no conoce a quien lo consume.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962400" y="812800"/>
            <a:ext cx="7416800" cy="523240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</p:spPr>
      </p:sp>
      <p:pic>
        <p:nvPicPr>
          <p:cNvPr id="6" name="Image 0" descr="Diagrama de bloques basado en eventos: cuatro productores a la izquierda, el enrutador de eventos al centro y cuatro consumidores a la derecha, con el nombre del evento en cada flecha">    </p:cNvPr>
          <p:cNvPicPr>
            <a:picLocks noChangeAspect="1"/>
          </p:cNvPicPr>
          <p:nvPr/>
        </p:nvPicPr>
        <p:blipFill>
          <a:blip r:embed="rId1"/>
          <a:srcRect l="0" r="0" t="-4801" b="-4801"/>
          <a:stretch/>
        </p:blipFill>
        <p:spPr>
          <a:xfrm>
            <a:off x="4089400" y="939800"/>
            <a:ext cx="7162800" cy="4978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65735"/>
            <a:ext cx="28778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5 · Diagrama de despliegue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831455"/>
            <a:ext cx="2877820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existente se integra.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3877915"/>
            <a:ext cx="287782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sistemas de cada planta no se mueven: se conectan.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962400" y="812800"/>
            <a:ext cx="7416800" cy="523240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</p:spPr>
      </p:sp>
      <p:pic>
        <p:nvPicPr>
          <p:cNvPr id="6" name="Image 0" descr="Diagrama de despliegue: dispositivos de usuario arriba, la nube privada con el borde de red, el clúster de servicios, la mensajería, la base de datos y el almacén analítico, una región secundaria, y a la derecha los servidores de planta y corporativos existentes">    </p:cNvPr>
          <p:cNvPicPr>
            <a:picLocks noChangeAspect="1"/>
          </p:cNvPicPr>
          <p:nvPr/>
        </p:nvPicPr>
        <p:blipFill>
          <a:blip r:embed="rId1"/>
          <a:srcRect l="0" r="0" t="-8702" b="-8702"/>
          <a:stretch/>
        </p:blipFill>
        <p:spPr>
          <a:xfrm>
            <a:off x="4089400" y="939800"/>
            <a:ext cx="7162800" cy="4978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6 · Pasos y modelo de calidad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531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25010. </a:t>
            </a:r>
            <a:r>
              <a:rPr lang="en-US" sz="3200" b="1" i="0" spc="-100" kern="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escenario, con su umbral.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67000"/>
            <a:ext cx="10566400" cy="25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04900" y="2978299"/>
          <a:ext cx="9994900" cy="1930053"/>
        </p:xfrm>
        <a:graphic>
          <a:graphicData uri="http://schemas.openxmlformats.org/drawingml/2006/table">
            <a:tbl>
              <a:tblPr/>
              <a:tblGrid>
                <a:gridCol w="2798572"/>
                <a:gridCol w="1599184"/>
                <a:gridCol w="2998470"/>
                <a:gridCol w="2598674"/>
              </a:tblGrid>
              <a:tr h="38601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6B6B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Característica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6B6B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Escenario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6B6B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6B6B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Umbral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38601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Fiabilidad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EAC-01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zonas y base en espera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99,9 % mensual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1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EAC-04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 única, doble factor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lecturas cruzadas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1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Compatibilidad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EAC-06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Adaptador por sistema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días por sistema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1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Desempeño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EAC-02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Reparto de carga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111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s con 800 usuarios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5461000"/>
            <a:ext cx="1088339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6B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mide antes de construir y al cerrar cada fase: pasos 5 y 7 de los siete.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resumen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531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arquitectura que sirve con cualquiera de los tres finalistas.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984500"/>
            <a:ext cx="10566400" cy="889000"/>
          </a:xfrm>
          <a:prstGeom prst="roundRect">
            <a:avLst>
              <a:gd name="adj" fmla="val 20000"/>
            </a:avLst>
          </a:prstGeom>
          <a:solidFill>
            <a:srgbClr val="1A1A1E"/>
          </a:solidFill>
          <a:ln/>
        </p:spPr>
      </p:sp>
      <p:pic>
        <p:nvPicPr>
          <p:cNvPr id="5" name="Image 0" descr="Lin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2200" y="3263900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51000" y="3268365"/>
            <a:ext cx="9732264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procesos son los cuatro servicios.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812800" y="4025900"/>
            <a:ext cx="10566400" cy="889000"/>
          </a:xfrm>
          <a:prstGeom prst="roundRect">
            <a:avLst>
              <a:gd name="adj" fmla="val 20000"/>
            </a:avLst>
          </a:prstGeom>
          <a:solidFill>
            <a:srgbClr val="1A1A1E"/>
          </a:solidFill>
          <a:ln/>
        </p:spPr>
      </p:sp>
      <p:pic>
        <p:nvPicPr>
          <p:cNvPr id="8" name="Image 1" descr="Lightni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92200" y="4305300"/>
            <a:ext cx="330200" cy="330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51000" y="4309765"/>
            <a:ext cx="9732264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existente se integra por eventos. No se reemplaza.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812800" y="5067300"/>
            <a:ext cx="10566400" cy="889000"/>
          </a:xfrm>
          <a:prstGeom prst="roundRect">
            <a:avLst>
              <a:gd name="adj" fmla="val 20000"/>
            </a:avLst>
          </a:prstGeom>
          <a:solidFill>
            <a:srgbClr val="1A1A1E"/>
          </a:solidFill>
          <a:ln/>
        </p:spPr>
      </p:sp>
      <p:pic>
        <p:nvPicPr>
          <p:cNvPr id="11" name="Image 2" descr="CheckCircl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92200" y="5346700"/>
            <a:ext cx="330200" cy="330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51000" y="5351165"/>
            <a:ext cx="9732264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spc="-50" kern="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escenario de calidad tiene medida y umbral.</a:t>
            </a:r>
            <a:endParaRPr lang="en-US" sz="2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812800"/>
            <a:ext cx="228600" cy="228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3000" y="820440"/>
            <a:ext cx="7082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50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1684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spc="-100" kern="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Referencias.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812800" y="189483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Austin, R. D., Sole, D. y Cotteleer, M. J. (2003). </a:t>
            </a:r>
            <a:r>
              <a:rPr lang="en-US" sz="1200" i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selección de software empresarial de Harley Davidson Motor Company</a:t>
            </a: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(caso 606-S14). Harvard Business School.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2445990"/>
            <a:ext cx="10883392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Bass, L., Clements, P. y Kazman, R. (2021). </a:t>
            </a:r>
            <a:r>
              <a:rPr lang="en-US" sz="1200" i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Architecture in Practice</a:t>
            </a: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(4.ª ed.). Addison-Wesley.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2800" y="2791420"/>
            <a:ext cx="10883392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9126-1:2001. </a:t>
            </a:r>
            <a:r>
              <a:rPr lang="en-US" sz="1200" i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engineering. Product quality. Part 1: Quality model</a:t>
            </a: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3136850"/>
            <a:ext cx="10883392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25010:2011. </a:t>
            </a:r>
            <a:r>
              <a:rPr lang="en-US" sz="1200" i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and software Quality Requirements and Evaluation (SQuaRE). System and software quality models</a:t>
            </a: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2800" y="348228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Montoya-Suárez, Monsalve-Gómez y Sepúlveda-Castaño (2015). Un caso de estudio para la adopción de un modelo de trazabilidad de requisitos en el sector energético. </a:t>
            </a:r>
            <a:r>
              <a:rPr lang="en-US" sz="1200" i="1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Lámpsakos</a:t>
            </a: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(13), 88-100.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2800" y="4033441"/>
            <a:ext cx="10883392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Rojas de Morán, C. (2026). Presentaciones del curso Análisis y Diseño de Sistemas II. ECYS, Universidad de San Carlos de Guatemala.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aso Harley-Davidson — SiL'K">
  <a:themeElements>
    <a:clrScheme name="Caso Harley-Davidson — SiL'K">
      <a:dk1>
        <a:srgbClr val="111114"/>
      </a:dk1>
      <a:lt1>
        <a:srgbClr val="F5F5F7"/>
      </a:lt1>
      <a:dk2>
        <a:srgbClr val="4A4A4D"/>
      </a:dk2>
      <a:lt2>
        <a:srgbClr val="DEDEE0"/>
      </a:lt2>
      <a:accent1>
        <a:srgbClr val="FF8A3D"/>
      </a:accent1>
      <a:accent2>
        <a:srgbClr val="C2500F"/>
      </a:accent2>
      <a:accent3>
        <a:srgbClr val="A1A1A8"/>
      </a:accent3>
      <a:accent4>
        <a:srgbClr val="6B6B72"/>
      </a:accent4>
      <a:accent5>
        <a:srgbClr val="8A8A91"/>
      </a:accent5>
      <a:accent6>
        <a:srgbClr val="9AA0A6"/>
      </a:accent6>
      <a:hlink>
        <a:srgbClr val="0563C1"/>
      </a:hlink>
      <a:folHlink>
        <a:srgbClr val="954F72"/>
      </a:folHlink>
    </a:clrScheme>
    <a:fontScheme name="Caso Harley-Davidson — SiL'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Caso Harley-Davidson: arquitectura del proyecto SiL'K</dc:title>
  <dc:subject/>
  <dc:creator>Grupo 2</dc:creator>
  <cp:lastModifiedBy>Santiago Barrera</cp:lastModifiedBy>
  <cp:revision>1</cp:revision>
  <dcterms:created xsi:type="dcterms:W3CDTF">2026-10-13T01:09:24Z</dcterms:created>
  <dcterms:modified xsi:type="dcterms:W3CDTF">2026-10-13T01:09:24Z</dcterms:modified>
</cp:coreProperties>
</file>