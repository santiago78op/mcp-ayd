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rking-meter-5AA2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25500"/>
            <a:ext cx="698500" cy="698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8415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5AA2FF"/>
                </a:solidFill>
                <a:latin typeface="Arial"/>
              </a:rPr>
              <a:t>ANÁLISIS Y DISEÑO DE SISTEMAS II · TAREA 3 · CASO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159000"/>
            <a:ext cx="10795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2F3F5"/>
                </a:solidFill>
                <a:latin typeface="Arial"/>
              </a:rPr>
              <a:t>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0480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A8AEB8"/>
                </a:solidFill>
                <a:latin typeface="Arial"/>
              </a:rPr>
              <a:t>SIEP: una solución desde la arquitectura del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191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Santiago Julián Barrera Reyes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0" y="41910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Scrum Master · coordinador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6736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Jemima Solmaira Chavajay Quiejú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46736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Product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156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Byron Josué Par Rancho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51562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Equipo de desarrollo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1016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A8AEB8"/>
                </a:solidFill>
                <a:latin typeface="Arial"/>
              </a:rPr>
              <a:t>Grupo 2 · ECYS, USAC · MBA. MSc. Claudia Rojas de Morán · octubre de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EL CASO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SERVIparq quiere que el cajón rote, pero el programa tiene seis problemas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137664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Ciudad de México, 2012. Un cajón de estacionamiento vale hasta </a:t>
            </a:r>
            <a:r>
              <a:rPr sz="2000" b="1">
                <a:solidFill>
                  <a:srgbClr val="A8AEB8"/>
                </a:solidFill>
                <a:latin typeface="Arial"/>
              </a:rPr>
              <a:t>200 mil pesos</a:t>
            </a:r>
            <a:r>
              <a:rPr sz="2000" b="0">
                <a:solidFill>
                  <a:srgbClr val="A8AEB8"/>
                </a:solidFill>
                <a:latin typeface="Arial"/>
              </a:rPr>
              <a:t>: la meta es que lo usen muchos conductores, no uno solo.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62000" y="3052572"/>
            <a:ext cx="3429000" cy="3170428"/>
            <a:chOff x="762000" y="3052572"/>
            <a:chExt cx="3429000" cy="3170428"/>
          </a:xfrm>
        </p:grpSpPr>
        <p:sp>
          <p:nvSpPr>
            <p:cNvPr id="18" name="Rounded Rectangle 17"/>
            <p:cNvSpPr/>
            <p:nvPr/>
          </p:nvSpPr>
          <p:spPr>
            <a:xfrm>
              <a:off x="762000" y="3052572"/>
              <a:ext cx="3429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81172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70 / 30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4052062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Así se reparte lo cobrado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16000" y="4727702"/>
              <a:ext cx="2921000" cy="101559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70 % para operar y mantener los equipos.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30 % se reinvierte en la comunidad.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4381500" y="3052572"/>
            <a:ext cx="3429000" cy="3170428"/>
            <a:chOff x="4381500" y="3052572"/>
            <a:chExt cx="3429000" cy="3170428"/>
          </a:xfrm>
        </p:grpSpPr>
        <p:sp>
          <p:nvSpPr>
            <p:cNvPr id="23" name="Rounded Rectangle 22"/>
            <p:cNvSpPr/>
            <p:nvPr/>
          </p:nvSpPr>
          <p:spPr>
            <a:xfrm>
              <a:off x="4381500" y="3052572"/>
              <a:ext cx="3429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35500" y="3281172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6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635500" y="4052062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problemas en el diagnóstico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635500" y="4727702"/>
              <a:ext cx="2921000" cy="12694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Vecinos no consultados, cuidacarros, instrucciones confusas, reclamos sin respuesta, falta de personal y desconfianza.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8001000" y="3052572"/>
            <a:ext cx="3429000" cy="3170428"/>
            <a:chOff x="8001000" y="3052572"/>
            <a:chExt cx="3429000" cy="3170428"/>
          </a:xfrm>
        </p:grpSpPr>
        <p:sp>
          <p:nvSpPr>
            <p:cNvPr id="28" name="Rounded Rectangle 27"/>
            <p:cNvSpPr/>
            <p:nvPr/>
          </p:nvSpPr>
          <p:spPr>
            <a:xfrm>
              <a:off x="8001000" y="3052572"/>
              <a:ext cx="3429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icture 28" descr="users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55000" y="3281172"/>
              <a:ext cx="406400" cy="4064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8255000" y="3865372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Smartmedia mide con personas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255000" y="4541012"/>
              <a:ext cx="2921000" cy="15233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Pide tareas reales con el parquímetro y mide si la gente encuentra y entiende la información. Hasta recrearon una calle en una sala.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INVESTIGACIÓN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En Guatemala se cobra Q3 por media hora, y también cobran los cuidacarros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3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3429000" cy="3958336"/>
            <a:chOff x="762000" y="2264664"/>
            <a:chExt cx="3429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64154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por cada 30 minutos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939794"/>
              <a:ext cx="2921000" cy="2031187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Acuerdo COM-40-2022 de la Municipalidad de Guatemala, vigente desde febrero de 2024. Banqueta por colores: blanco se puede, rojo no. EMETRA anunció pago por aplicación.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4381500" y="2264664"/>
            <a:ext cx="3429000" cy="3958336"/>
            <a:chOff x="4381500" y="2264664"/>
            <a:chExt cx="3429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43815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355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2,500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35500" y="3264154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objetos que apartaban lugares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635500" y="3939794"/>
              <a:ext cx="2921000" cy="1777289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Retirados en un operativo de la PMT (2023). Cobrar por dejar estacionar puede ser extorsión: se denuncia al 1551. Zona 13, 2026: 33 personas cobraban hasta US$50.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8001000" y="2264664"/>
            <a:ext cx="3429000" cy="3958336"/>
            <a:chOff x="8001000" y="2264664"/>
            <a:chExt cx="3429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8001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2550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Q12 M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255000" y="3264154"/>
              <a:ext cx="2921000" cy="8801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cobró MarbEx en 2025, Antigua Guatemala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255000" y="4233164"/>
              <a:ext cx="2921000" cy="1777289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Marbete digital por placa: Q7 M en 2024. En 2026 la Corte de Constitucionalidad suspendió la base de datos de placas y la multa de Q500.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LOS SEIS PROBLEMAS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Tres de los seis problemas no se arreglan con una pantalla mejor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4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users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2493264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16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Gobierno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779774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P-01 Vecinos no consultados.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P-06 Nadie ve a dónde va el dinero.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map-pin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2493264"/>
              <a:ext cx="406400" cy="4064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683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7797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P-03 Instrucciones confusas y solo monedas.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P-04 No se sabe cómo reclamar una multa.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wrench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2493264"/>
              <a:ext cx="406400" cy="4064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50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Capacidad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7797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P-05 Falta personal. El equipo ya podía cobrar con tarjeta y avisar vandalismo: estaba apagado.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icture 3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2493264"/>
              <a:ext cx="406400" cy="4064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9017000" y="3077464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Cobro informal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77977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P-02 Cuidacarros («franeleros» en el caso): apartan el lugar y cobran por él.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REQUISITOS DE DESEMPEÑO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72 % es el éxito esperado, pero cada tarea merece su propio número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Antes del uso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Encontrar la zona, un cajón y su parquímetro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15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Durante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Entender tarifa y tiempo máximo, y pagar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15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Después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Saber cuándo vence y cómo reclamar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762000" y="3502914"/>
            <a:ext cx="5207000" cy="2720086"/>
            <a:chOff x="762000" y="3502914"/>
            <a:chExt cx="5207000" cy="2720086"/>
          </a:xfrm>
        </p:grpSpPr>
        <p:sp>
          <p:nvSpPr>
            <p:cNvPr id="26" name="Rounded Rectangle 25"/>
            <p:cNvSpPr/>
            <p:nvPr/>
          </p:nvSpPr>
          <p:spPr>
            <a:xfrm>
              <a:off x="762000" y="3502914"/>
              <a:ext cx="5207000" cy="272008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16000" y="3731514"/>
              <a:ext cx="4699000" cy="8534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64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16000" y="4635754"/>
              <a:ext cx="469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el nivel que acordaron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16000" y="5018024"/>
              <a:ext cx="4699000" cy="101559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80 % encuentra la información (va con prisa)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× 90 % la usa bien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= 72 % completa la tarea.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223000" y="3502914"/>
            <a:ext cx="5207000" cy="2720086"/>
            <a:chOff x="6223000" y="3502914"/>
            <a:chExt cx="5207000" cy="2720086"/>
          </a:xfrm>
        </p:grpSpPr>
        <p:sp>
          <p:nvSpPr>
            <p:cNvPr id="31" name="Rounded Rectangle 30"/>
            <p:cNvSpPr/>
            <p:nvPr/>
          </p:nvSpPr>
          <p:spPr>
            <a:xfrm>
              <a:off x="6223000" y="3502914"/>
              <a:ext cx="5207000" cy="272008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77000" y="3731514"/>
              <a:ext cx="4699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Un número por tarea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77000" y="41125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Pagar por placa (si falla, multa injusta)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096500" y="41125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81 %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477000" y="45824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Entender la tarifa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096500" y="45824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77000" y="50523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Saber cómo reclamar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96500" y="50523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477000" y="55222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Ubicar el número del parquímetro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096500" y="55222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64 %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CASO DE NEGOCIO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negocio son cinco procesos; el cuidacarros queda fuera, pero cuenta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264664"/>
            <a:ext cx="3810000" cy="3958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Negocio:</a:t>
            </a:r>
            <a:r>
              <a:rPr sz="1600" b="0">
                <a:solidFill>
                  <a:srgbClr val="A8AEB8"/>
                </a:solidFill>
                <a:latin typeface="Arial"/>
              </a:rPr>
              <a:t> gestionar el estacionamiento en la calle.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Actores:</a:t>
            </a:r>
            <a:r>
              <a:rPr sz="1600" b="0">
                <a:solidFill>
                  <a:srgbClr val="A8AEB8"/>
                </a:solidFill>
                <a:latin typeface="Arial"/>
              </a:rPr>
              <a:t> conductor, comité vecinal, Delegación, oficial de tránsito, banco y proveedor del parquímetro.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Trabajadores:</a:t>
            </a:r>
            <a:r>
              <a:rPr sz="1600" b="0">
                <a:solidFill>
                  <a:srgbClr val="A8AEB8"/>
                </a:solidFill>
                <a:latin typeface="Arial"/>
              </a:rPr>
              <a:t> el verificador y el personal de SERVIparq.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No es actor:</a:t>
            </a:r>
            <a:r>
              <a:rPr sz="1600" b="0">
                <a:solidFill>
                  <a:srgbClr val="A8AEB8"/>
                </a:solidFill>
                <a:latin typeface="Arial"/>
              </a:rPr>
              <a:t> el cuidacarros. No participa de forma legal, pero el diseño lo toma en cuenta.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5275303" y="2137664"/>
            <a:ext cx="5832395" cy="4212336"/>
            <a:chOff x="5275303" y="2137664"/>
            <a:chExt cx="5832395" cy="4212336"/>
          </a:xfrm>
        </p:grpSpPr>
        <p:sp>
          <p:nvSpPr>
            <p:cNvPr id="18" name="Rounded Rectangle 17"/>
            <p:cNvSpPr/>
            <p:nvPr/>
          </p:nvSpPr>
          <p:spPr>
            <a:xfrm>
              <a:off x="5275303" y="2137664"/>
              <a:ext cx="5832395" cy="42123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9" name="Picture 18" descr="cdu-descomposicion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2303" y="2264664"/>
              <a:ext cx="5578395" cy="395833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POSIBLES SOLUCIONES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Elegimos pagar por placa con el equipo que ya se compró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7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S-1 Rediseñar solo la información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502279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Barato y rápido. No resuelve la falta de personal ni la desconfianza.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DENTRO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28575">
              <a:solidFill>
                <a:srgbClr val="5AA2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83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S-2 Pago por placa, conectado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83000" y="3502279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Monedas, tarjeta o celular con el equipo ya comprado. Ataca 5 de los 6 problemas.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NÚCLEO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S-3 Sensores y tarifa por demanda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50000" y="3502279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Como San Francisco. Caro, expuesto al vandalismo y sin datos todavía.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DESPUÉS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017000" y="2493264"/>
              <a:ext cx="2159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S-4 Gobierno comunitario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017000" y="3502279"/>
              <a:ext cx="2159000" cy="107533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Consulta previa, tablero público y protocolo con los cuidacarros.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5715000"/>
              <a:ext cx="2159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ALREDEDOR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DEL SOFTWARE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Cada proceso es un servicio, y los servicios se avisan con eventos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2646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22646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CDU-01</a:t>
            </a:r>
            <a:r>
              <a:rPr sz="1700" b="0">
                <a:solidFill>
                  <a:srgbClr val="F2F3F5"/>
                </a:solidFill>
                <a:latin typeface="Arial"/>
              </a:rPr>
              <a:t>  Zonas y comunidad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28742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500" y="28742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CDU-02</a:t>
            </a:r>
            <a:r>
              <a:rPr sz="1700" b="0">
                <a:solidFill>
                  <a:srgbClr val="F2F3F5"/>
                </a:solidFill>
                <a:latin typeface="Arial"/>
              </a:rPr>
              <a:t>  Cobro por placa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4838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500" y="34838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CDU-03</a:t>
            </a:r>
            <a:r>
              <a:rPr sz="1700" b="0">
                <a:solidFill>
                  <a:srgbClr val="F2F3F5"/>
                </a:solidFill>
                <a:latin typeface="Arial"/>
              </a:rPr>
              <a:t>  Verificación y sanción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40934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40934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CDU-04</a:t>
            </a:r>
            <a:r>
              <a:rPr sz="1700" b="0">
                <a:solidFill>
                  <a:srgbClr val="F2F3F5"/>
                </a:solidFill>
                <a:latin typeface="Arial"/>
              </a:rPr>
              <a:t>  Transparencia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47030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500" y="47030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CDU-05</a:t>
            </a:r>
            <a:r>
              <a:rPr sz="1700" b="0">
                <a:solidFill>
                  <a:srgbClr val="F2F3F5"/>
                </a:solidFill>
                <a:latin typeface="Arial"/>
              </a:rPr>
              <a:t>  Red y mantenimiento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5894853" y="2137664"/>
            <a:ext cx="4593295" cy="3005836"/>
            <a:chOff x="5894853" y="2137664"/>
            <a:chExt cx="4593295" cy="3005836"/>
          </a:xfrm>
        </p:grpSpPr>
        <p:sp>
          <p:nvSpPr>
            <p:cNvPr id="27" name="Rounded Rectangle 26"/>
            <p:cNvSpPr/>
            <p:nvPr/>
          </p:nvSpPr>
          <p:spPr>
            <a:xfrm>
              <a:off x="5894853" y="2137664"/>
              <a:ext cx="4593295" cy="30058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bloques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21853" y="2264664"/>
              <a:ext cx="4339295" cy="2751836"/>
            </a:xfrm>
            <a:prstGeom prst="rect">
              <a:avLst/>
            </a:prstGeom>
          </p:spPr>
        </p:pic>
      </p:grpSp>
      <p:grpSp>
        <p:nvGrpSpPr>
          <p:cNvPr id="29" name="Group 28"/>
          <p:cNvGrpSpPr/>
          <p:nvPr/>
        </p:nvGrpSpPr>
        <p:grpSpPr>
          <a:xfrm>
            <a:off x="762000" y="5270500"/>
            <a:ext cx="10636250" cy="952500"/>
            <a:chOff x="762000" y="5270500"/>
            <a:chExt cx="10636250" cy="952500"/>
          </a:xfrm>
        </p:grpSpPr>
        <p:sp>
          <p:nvSpPr>
            <p:cNvPr id="30" name="Rounded Rectangle 29"/>
            <p:cNvSpPr/>
            <p:nvPr/>
          </p:nvSpPr>
          <p:spPr>
            <a:xfrm>
              <a:off x="7620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525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El pago queda en la placa: no hay boleto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4607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6512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Se encienden el pago con tarjeta y la alarma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1595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500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La multa nace solo si el oficial la confirma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88582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0487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Todo lo cobrado se publica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DESPLIEGUE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parquímetro sigue cobrando aunque se caiga la señal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9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2625811" y="2137664"/>
            <a:ext cx="6940378" cy="4212336"/>
            <a:chOff x="2625811" y="2137664"/>
            <a:chExt cx="6940378" cy="4212336"/>
          </a:xfrm>
        </p:grpSpPr>
        <p:sp>
          <p:nvSpPr>
            <p:cNvPr id="17" name="Rounded Rectangle 16"/>
            <p:cNvSpPr/>
            <p:nvPr/>
          </p:nvSpPr>
          <p:spPr>
            <a:xfrm>
              <a:off x="2625811" y="2137664"/>
              <a:ext cx="6940378" cy="42123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despliegue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52811" y="2264664"/>
              <a:ext cx="6686378" cy="395833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CALIDAD DEL SOFTWARE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Nos comprometemos con cuatro números que se pueden medir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10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Eficacia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61975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los conductores paga sin ayuda la primera vez (calidad en uso, ISO 9126).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83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2 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83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Rendimiento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61975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para que el verificador sepa si una placa pagó, en 95 de cada 100 consultas.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50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Disponibilidad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619754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pagos perdidos aunque se caiga la señal: el equipo guarda y reenvía.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017000" y="2493264"/>
              <a:ext cx="2159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100 %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017000" y="3237484"/>
              <a:ext cx="215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Seguridad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61975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las multas con foto, hora, ubicación y confirmación del oficial.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 LA INFORMACIÓN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La información se ordena por lo que el conductor hace en cada momento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11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3429000" cy="3958336"/>
            <a:chOff x="762000" y="2264664"/>
            <a:chExt cx="3429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333500" y="2518664"/>
              <a:ext cx="2286000" cy="2243836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095500" y="2709164"/>
              <a:ext cx="762000" cy="762000"/>
            </a:xfrm>
            <a:prstGeom prst="roundRect">
              <a:avLst>
                <a:gd name="adj" fmla="val 12000"/>
              </a:avLst>
            </a:prstGeom>
            <a:solidFill>
              <a:srgbClr val="0B5CA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095500" y="2709164"/>
              <a:ext cx="7620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6000" b="1">
                  <a:solidFill>
                    <a:srgbClr val="FFFFFF"/>
                  </a:solidFill>
                  <a:latin typeface="Arial"/>
                </a:rPr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397000" y="3566414"/>
              <a:ext cx="2159000" cy="254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1400" b="1">
                  <a:solidFill>
                    <a:srgbClr val="111418"/>
                  </a:solidFill>
                  <a:latin typeface="Arial"/>
                </a:rPr>
                <a:t>Zona con parquímetro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397000" y="3788664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1200" b="0">
                  <a:solidFill>
                    <a:srgbClr val="444A52"/>
                  </a:solidFill>
                  <a:latin typeface="Arial"/>
                </a:rPr>
                <a:t>Q3 por 30 min</a:t>
              </a:r>
            </a:p>
            <a:p>
              <a:pPr algn="ctr">
                <a:lnSpc>
                  <a:spcPct val="112000"/>
                </a:lnSpc>
              </a:pPr>
              <a:r>
                <a:rPr sz="1200" b="0">
                  <a:solidFill>
                    <a:srgbClr val="444A52"/>
                  </a:solidFill>
                  <a:latin typeface="Arial"/>
                </a:rPr>
                <a:t>Parquímetro 0412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160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Antes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160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Señal con el color de la banqueta, la tarifa y el número del parquímetro.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4381500" y="2264664"/>
            <a:ext cx="3429000" cy="3958336"/>
            <a:chOff x="4381500" y="2264664"/>
            <a:chExt cx="3429000" cy="3958336"/>
          </a:xfrm>
        </p:grpSpPr>
        <p:sp>
          <p:nvSpPr>
            <p:cNvPr id="26" name="Rounded Rectangle 25"/>
            <p:cNvSpPr/>
            <p:nvPr/>
          </p:nvSpPr>
          <p:spPr>
            <a:xfrm>
              <a:off x="43815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icture 26" descr="pantalla-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72027" y="2518664"/>
              <a:ext cx="2047946" cy="2243836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46355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Durante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6355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Tres pasos: placa, tiempo y pago, con la tarifa siempre arriba.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8001000" y="2264664"/>
            <a:ext cx="3429000" cy="3958336"/>
            <a:chOff x="8001000" y="2264664"/>
            <a:chExt cx="3429000" cy="3958336"/>
          </a:xfrm>
        </p:grpSpPr>
        <p:sp>
          <p:nvSpPr>
            <p:cNvPr id="31" name="Rounded Rectangle 30"/>
            <p:cNvSpPr/>
            <p:nvPr/>
          </p:nvSpPr>
          <p:spPr>
            <a:xfrm>
              <a:off x="8001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icture 31" descr="pantalla-4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91527" y="2518664"/>
              <a:ext cx="2047946" cy="2243836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2550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Después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2550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Comprobante con folio y hora de vencimiento, y cómo reclamar.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PARTE DESARROLLADA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prototipo mide si llegamos al 72 % mientras se prueba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12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1230341" y="2137664"/>
            <a:ext cx="9731318" cy="3767836"/>
            <a:chOff x="1230341" y="2137664"/>
            <a:chExt cx="9731318" cy="3767836"/>
          </a:xfrm>
        </p:grpSpPr>
        <p:sp>
          <p:nvSpPr>
            <p:cNvPr id="17" name="Rounded Rectangle 16"/>
            <p:cNvSpPr/>
            <p:nvPr/>
          </p:nvSpPr>
          <p:spPr>
            <a:xfrm>
              <a:off x="1230341" y="2137664"/>
              <a:ext cx="9731318" cy="37678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prototipo-cuatro-pantalla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7341" y="2264664"/>
              <a:ext cx="9477318" cy="3513836"/>
            </a:xfrm>
            <a:prstGeom prst="rect">
              <a:avLst/>
            </a:prstGeom>
          </p:spPr>
        </p:pic>
      </p:grpSp>
      <p:sp>
        <p:nvSpPr>
          <p:cNvPr id="19" name="TextBox 18"/>
          <p:cNvSpPr txBox="1"/>
          <p:nvPr/>
        </p:nvSpPr>
        <p:spPr>
          <a:xfrm>
            <a:off x="762000" y="5969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Tarifario real de la capital · pago por placa · aviso contra el cobro informal · modo de prueba que mide el 72 %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EN EL CICLO DE VIDA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Se construye en espiral por fuera y con Scrum por dentro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137664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Siete factores de la clase: la pantalla se descubre probando, cada Delegación es distinta y hay riesgos fuertes al inicio.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62000" y="3052572"/>
            <a:ext cx="10668000" cy="1524000"/>
            <a:chOff x="762000" y="3052572"/>
            <a:chExt cx="10668000" cy="1524000"/>
          </a:xfrm>
        </p:grpSpPr>
        <p:sp>
          <p:nvSpPr>
            <p:cNvPr id="18" name="Rounded Rectangle 17"/>
            <p:cNvSpPr/>
            <p:nvPr/>
          </p:nvSpPr>
          <p:spPr>
            <a:xfrm>
              <a:off x="762000" y="3052572"/>
              <a:ext cx="5270500" cy="15240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192272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5AA2FF"/>
                  </a:solidFill>
                  <a:latin typeface="Arial"/>
                </a:rPr>
                <a:t>Espiral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611372"/>
              <a:ext cx="4826000" cy="730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Cada vuelta empieza revisando los riesgos: legales, vandalismo y aceptación de los vecinos.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159500" y="3052572"/>
              <a:ext cx="5270500" cy="15240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13500" y="3192272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5AA2FF"/>
                  </a:solidFill>
                  <a:latin typeface="Arial"/>
                </a:rPr>
                <a:t>Scrum con arquitectura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13500" y="3611372"/>
              <a:ext cx="4826000" cy="730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Pasos 1, 2, 4 y 9 de la lámina: especificar y priorizar casos de uso, arquitectura base en el primer sprint y refinarla en cada sprint.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62000" y="4716272"/>
            <a:ext cx="10636250" cy="1506728"/>
            <a:chOff x="762000" y="4716272"/>
            <a:chExt cx="10636250" cy="1506728"/>
          </a:xfrm>
        </p:grpSpPr>
        <p:sp>
          <p:nvSpPr>
            <p:cNvPr id="25" name="Rounded Rectangle 24"/>
            <p:cNvSpPr/>
            <p:nvPr/>
          </p:nvSpPr>
          <p:spPr>
            <a:xfrm>
              <a:off x="76200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5250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5250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Consulta en la colonia piloto y conteo de cuidacarros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46075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65125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65125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Pago por placa, verificación y multa con evidencia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5950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35000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2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35000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App del conductor, alarma y reportes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885825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4875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3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875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Con datos: sensores y tarifa por demanda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FACTORES EXTERNOS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Al cobro informal se le gana con información, datos y acuerdos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14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parking-meter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2493264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16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77977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La pantalla y la señal dicen que el único cobro es el del parquímetro, y cuánto es.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smartphone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2493264"/>
              <a:ext cx="406400" cy="4064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683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Software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77977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Reporte sin dar el nombre. El sistema marca las cuadras llenas donde casi nadie paga.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shield-check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2493264"/>
              <a:ext cx="406400" cy="4064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50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Ciclo de vida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7797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Antes de instalar: contar a los cuidacarros y acordar un protocolo con la PDH, como en Antigua.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icture 3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2493264"/>
              <a:ext cx="406400" cy="4064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9017000" y="3077464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Opción para la Delegación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77977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Trabajo formal de orientación al usuario, pagado con el 30 % comunitario.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CIERRE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Tres ideas para llevarse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970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8000" y="2097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La pantalla era la mitad del problema.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113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8000" y="3240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faltaba ya estaba en el equipo.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56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78000" y="4383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se cobra se publica: sin confianza no hay sistema.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905500"/>
            <a:ext cx="1016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0">
                <a:solidFill>
                  <a:srgbClr val="A8AEB8"/>
                </a:solidFill>
                <a:latin typeface="Arial"/>
              </a:rPr>
              <a:t>Gracias. ¿Preguntas?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aso Harley-Davidson — SiL'K">
  <a:themeElements>
    <a:clrScheme name="Caso Harley-Davidson — SiL'K">
      <a:dk1>
        <a:srgbClr val="111114"/>
      </a:dk1>
      <a:lt1>
        <a:srgbClr val="F5F5F7"/>
      </a:lt1>
      <a:dk2>
        <a:srgbClr val="4A4A4D"/>
      </a:dk2>
      <a:lt2>
        <a:srgbClr val="DEDEE0"/>
      </a:lt2>
      <a:accent1>
        <a:srgbClr val="FF8A3D"/>
      </a:accent1>
      <a:accent2>
        <a:srgbClr val="C2500F"/>
      </a:accent2>
      <a:accent3>
        <a:srgbClr val="A1A1A8"/>
      </a:accent3>
      <a:accent4>
        <a:srgbClr val="6B6B72"/>
      </a:accent4>
      <a:accent5>
        <a:srgbClr val="8A8A91"/>
      </a:accent5>
      <a:accent6>
        <a:srgbClr val="9AA0A6"/>
      </a:accent6>
      <a:hlink>
        <a:srgbClr val="0563C1"/>
      </a:hlink>
      <a:folHlink>
        <a:srgbClr val="954F72"/>
      </a:folHlink>
    </a:clrScheme>
    <a:fontScheme name="Caso Harley-Davidson — SiL'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Repensando los parquímetros: SIEP</dc:title>
  <dc:subject/>
  <dc:creator>Santiago Barrera</dc:creator>
  <cp:lastModifiedBy>Santiago Barrera</cp:lastModifiedBy>
  <cp:revision>1</cp:revision>
  <dcterms:created xsi:type="dcterms:W3CDTF">2026-10-19T09:00:00Z</dcterms:created>
  <dcterms:modified xsi:type="dcterms:W3CDTF">2026-10-19T09:00:00Z</dcterms:modified>
</cp:coreProperties>
</file>