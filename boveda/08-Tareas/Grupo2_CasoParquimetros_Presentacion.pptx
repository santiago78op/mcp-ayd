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6"/>
    <p:sldId id="265" r:id="rId5"/>
    <p:sldId id="266" r:id="rId4"/>
    <p:sldId id="267" r:id="rId3"/>
    <p:sldId id="268" r:id="rId2"/>
    <p:sldId id="269" r:id="rId20"/>
    <p:sldId id="270" r:id="rId21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3.xml"/><Relationship Id="rId3" Type="http://schemas.openxmlformats.org/officeDocument/2006/relationships/slide" Target="slides/slide12.xml"/><Relationship Id="rId4" Type="http://schemas.openxmlformats.org/officeDocument/2006/relationships/slide" Target="slides/slide11.xml"/><Relationship Id="rId5" Type="http://schemas.openxmlformats.org/officeDocument/2006/relationships/slide" Target="slides/slide10.xml"/><Relationship Id="rId6" Type="http://schemas.openxmlformats.org/officeDocument/2006/relationships/slide" Target="slides/slide9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Portada</a:t>
            </a:r>
          </a:p>
          <a:p/>
          <a:p>
            <a:r>
              <a:t>Buenos días. Somos el Grupo 2: Jemima Chavajay, Byron Par y Santiago Barrera. Presentamos el caso</a:t>
            </a:r>
          </a:p>
          <a:p>
            <a:r>
              <a:t>cuatro, Repensando los parquímetros. Nuestra propuesta se llama SIEP, Sistema Integrado de</a:t>
            </a:r>
          </a:p>
          <a:p>
            <a:r>
              <a:t>Estacionamiento en la vía Pública, y la vamos a defender desde las cuatro perspectivas que pide la</a:t>
            </a:r>
          </a:p>
          <a:p>
            <a:r>
              <a:t>consigna: arquitectura del software, calidad, arquitectura en el ciclo de vida y arquitectura de la</a:t>
            </a:r>
          </a:p>
          <a:p>
            <a:r>
              <a:t>información.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El caso en una lámina</a:t>
            </a:r>
          </a:p>
          <a:p/>
          <a:p>
            <a:r>
              <a:t>SERVIparq es el programa del gobierno de la Ciudad de México que opera los parquímetros. Su meta es</a:t>
            </a:r>
          </a:p>
          <a:p>
            <a:r>
              <a:t>urbana: que un cajón que vale hasta doscientos mil pesos deje de ser de uno solo y rote.</a:t>
            </a:r>
          </a:p>
          <a:p>
            <a:r>
              <a:t>[CLIC] Lo recaudado se reparte setenta por ciento para operar y treinta para la comunidad.</a:t>
            </a:r>
          </a:p>
          <a:p>
            <a:r>
              <a:t>[CLIC] En 2012 llega Margarita Patiño, hace un diagnóstico y encuentra seis problemas.</a:t>
            </a:r>
          </a:p>
          <a:p>
            <a:r>
              <a:t>[CLIC] Contrata a Smartmedia, una empresa de diseño. Le pide a la gente que haga tareas con el</a:t>
            </a:r>
          </a:p>
          <a:p>
            <a:r>
              <a:t>parquímetro y mide si encuentra y entiende la información. Hasta armaron una calle de mentira en una</a:t>
            </a:r>
          </a:p>
          <a:p>
            <a:r>
              <a:t>sala para que los participantes actuaran la situación. Nuestra conclusión: Smartmedia arregló la</a:t>
            </a:r>
          </a:p>
          <a:p>
            <a:r>
              <a:t>pantalla, pero tres de los seis problemas no tienen que ver con la pantalla.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Guatemala: cómo funciona y quién más cobra</a:t>
            </a:r>
          </a:p>
          <a:p/>
          <a:p>
            <a:r>
              <a:t>Trajimos el caso a Guatemala. En la capital, la municipalidad cobra tres quetzales por media hora</a:t>
            </a:r>
          </a:p>
          <a:p>
            <a:r>
              <a:t>según su acuerdo COM-40-2022, y la banqueta se pinta por colores: blanco se puede, rojo no. EMETRA,</a:t>
            </a:r>
          </a:p>
          <a:p>
            <a:r>
              <a:t>la empresa municipal de tránsito, anunció que se va a poder pagar con una aplicación.</a:t>
            </a:r>
          </a:p>
          <a:p>
            <a:r>
              <a:t>[CLIC] Y aquí aparece algo que el sistema no controla: personas que no son de la municipalidad y</a:t>
            </a:r>
          </a:p>
          <a:p>
            <a:r>
              <a:t>cobran por dejar estacionar, los cuidacarros. En el caso, que pasa en México, les dicen franeleros.</a:t>
            </a:r>
          </a:p>
          <a:p>
            <a:r>
              <a:t>En un solo operativo se retiraron dos mil quinientos objetos que apartaban lugares. En</a:t>
            </a:r>
          </a:p>
          <a:p>
            <a:r>
              <a:t>abril, en la zona 13, el Ministerio Público identificó a treinta y tres personas que cobraban hasta</a:t>
            </a:r>
          </a:p>
          <a:p>
            <a:r>
              <a:t>cincuenta dólares a turistas.</a:t>
            </a:r>
          </a:p>
          <a:p>
            <a:r>
              <a:t>[CLIC] Y Antigua: su marbete digital, MarbEx, casi duplicó la recaudación, de siete a doce</a:t>
            </a:r>
          </a:p>
          <a:p>
            <a:r>
              <a:t>millones, pero la Corte de Constitucionalidad suspendió justamente la base de datos de placas y la</a:t>
            </a:r>
          </a:p>
          <a:p>
            <a:r>
              <a:t>multa de quinientos quetzales. La lección: no basta con cobrar, hay que hacerlo con base legal y que</a:t>
            </a:r>
          </a:p>
          <a:p>
            <a:r>
              <a:t>la gente confíe. Le doy la palabra a Jemima, que les muestra los problemas.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Seis problemas, tres que no son de pantalla</a:t>
            </a:r>
          </a:p>
          <a:p/>
          <a:p>
            <a:r>
              <a:t>Ordenamos los seis problemas por su causa.</a:t>
            </a:r>
          </a:p>
          <a:p>
            <a:r>
              <a:t>[CLIC] Los de gobierno: vecinos que no fueron consultados y un sistema que se percibe corrupto</a:t>
            </a:r>
          </a:p>
          <a:p>
            <a:r>
              <a:t>porque nadie ve a dónde va el dinero.</a:t>
            </a:r>
          </a:p>
          <a:p>
            <a:r>
              <a:t>[CLIC] Los de información: instrucciones confusas y no saber cómo reclamar una multa.</a:t>
            </a:r>
          </a:p>
          <a:p>
            <a:r>
              <a:t>[CLIC] Los de capacidad: falta personal, pero el parquímetro ya podía cobrar con tarjeta y avisar</a:t>
            </a:r>
          </a:p>
          <a:p>
            <a:r>
              <a:t>vandalismo; esas funciones estaban apagadas.</a:t>
            </a:r>
          </a:p>
          <a:p>
            <a:r>
              <a:t>[CLIC] Y los cuidacarros, que el caso llama franeleros: apartan el lugar y cobran por él, o sea</a:t>
            </a:r>
          </a:p>
          <a:p>
            <a:r>
              <a:t>que le compiten al parquímetro por el mismo espacio.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Requisitos de desempeño y el 72 %</a:t>
            </a:r>
          </a:p>
          <a:p/>
          <a:p>
            <a:r>
              <a:t>Smartmedia acordó con SERVIparq qué tiene que poder hacer el conductor antes, durante y después de</a:t>
            </a:r>
          </a:p>
          <a:p>
            <a:r>
              <a:t>usar el parquímetro.</a:t>
            </a:r>
          </a:p>
          <a:p>
            <a:r>
              <a:t>[CLIC] Y le puso un número. Setenta y dos por ciento: el ochenta por ciento encuentra la</a:t>
            </a:r>
          </a:p>
          <a:p>
            <a:r>
              <a:t>información, porque la gente va con prisa, por el noventa por ciento que la usa bien.</a:t>
            </a:r>
          </a:p>
          <a:p>
            <a:r>
              <a:t>[CLIC] Nuestra mejora: el umbral por tarea, según lo que cuesta fallar. Pagar mal termina en una</a:t>
            </a:r>
          </a:p>
          <a:p>
            <a:r>
              <a:t>multa injusta, así que ahí pedimos ochenta y uno, el máximo del método. Byron les explica cómo lo</a:t>
            </a:r>
          </a:p>
          <a:p>
            <a:r>
              <a:t>resolvemos.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Byron · El negocio: cinco procesos</a:t>
            </a:r>
          </a:p>
          <a:p/>
          <a:p>
            <a:r>
              <a:t>Primero delimitamos el negocio: la gestión del estacionamiento en la vía pública. Los actores son el</a:t>
            </a:r>
          </a:p>
          <a:p>
            <a:r>
              <a:t>conductor, el comité vecinal, la Delegación, el área de tránsito, el banco y el proveedor del equipo.</a:t>
            </a:r>
          </a:p>
          <a:p>
            <a:r>
              <a:t>El verificador trabaja adentro, así que no es actor sino trabajador. Y el cuidacarros tampoco es</a:t>
            </a:r>
          </a:p>
          <a:p>
            <a:r>
              <a:t>actor: no participa en el negocio de forma legal, pero igual tenemos que tomarlo en cuenta.</a:t>
            </a:r>
          </a:p>
          <a:p>
            <a:r>
              <a:t>[CLIC] De ahí salen cinco procesos: concertar la zona, cobrar por placa, verificar y sancionar,</a:t>
            </a:r>
          </a:p>
          <a:p>
            <a:r>
              <a:t>rendir cuentas y mantener la red. Cada uno será un servicio.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Byron · Cuatro alternativas</a:t>
            </a:r>
          </a:p>
          <a:p/>
          <a:p>
            <a:r>
              <a:t>Evaluamos cuatro soluciones contra los seis problemas y los drivers.</a:t>
            </a:r>
          </a:p>
          <a:p>
            <a:r>
              <a:t>[CLIC] Uno: rediseñar solo la información. Barato, pero no toca la falta de personal.</a:t>
            </a:r>
          </a:p>
          <a:p>
            <a:r>
              <a:t>[CLIC] Dos: pagar con el número de placa, con monedas, tarjeta o celular, usando el mismo equipo que ya se compró.</a:t>
            </a:r>
          </a:p>
          <a:p>
            <a:r>
              <a:t>[CLIC] Tres: sensores por cajón y tarifa por demanda, como San Francisco. Caro y vulnerable al vandalismo.</a:t>
            </a:r>
          </a:p>
          <a:p>
            <a:r>
              <a:t>[CLIC] Cuatro: gobierno comunitario, que no es software pero resuelve consulta y confianza.</a:t>
            </a:r>
          </a:p>
          <a:p>
            <a:r>
              <a:t>Elegimos la dos como núcleo, con la uno adentro y la cuatro alrededor. La tres queda para después, cuando haya datos.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Byron · La arquitectura: SOA con eventos</a:t>
            </a:r>
          </a:p>
          <a:p/>
          <a:p>
            <a:r>
              <a:t>El estilo principal es SOA, arquitectura orientada a servicios: cada uno de los cinco procesos es un</a:t>
            </a:r>
          </a:p>
          <a:p>
            <a:r>
              <a:t>servicio independiente. Es justo lo que dice la lámina de clase: desarrollar los procesos de negocio</a:t>
            </a:r>
          </a:p>
          <a:p>
            <a:r>
              <a:t>como servicios.</a:t>
            </a:r>
          </a:p>
          <a:p>
            <a:r>
              <a:t>[CLIC] Y los servicios se avisan con eventos. Cuando alguien paga, el parquímetro avisa «pago</a:t>
            </a:r>
          </a:p>
          <a:p>
            <a:r>
              <a:t>registrado» y a ese aviso reaccionan la base de datos, las notificaciones y el tablero, sin que el</a:t>
            </a:r>
          </a:p>
          <a:p>
            <a:r>
              <a:t>parquímetro tenga que conocerlos.</a:t>
            </a:r>
          </a:p>
          <a:p>
            <a:r>
              <a:t>[CLIC] Cuatro decisiones cambian el día a día: el pago se liga a la placa y desaparece el boleto;</a:t>
            </a:r>
          </a:p>
          <a:p>
            <a:r>
              <a:t>se encienden el pago con tarjeta y la alarma; la multa solo nace cuando el oficial confirma la</a:t>
            </a:r>
          </a:p>
          <a:p>
            <a:r>
              <a:t>evidencia; y todo lo cobrado se publica.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Byron · Despliegue</a:t>
            </a:r>
          </a:p>
          <a:p/>
          <a:p>
            <a:r>
              <a:t>Así se despliega. Arriba, el parquímetro, el teléfono del conductor, el del verificador y la consola</a:t>
            </a:r>
          </a:p>
          <a:p>
            <a:r>
              <a:t>de la Delegación. El parquímetro se conecta por la red celular y, si se cae la señal, sigue cobrando,</a:t>
            </a:r>
          </a:p>
          <a:p>
            <a:r>
              <a:t>guarda los pagos y los manda cuando vuelve la conexión. Al centro, la nube con los seis servicios, la mensajería, la base de datos y la analítica;</a:t>
            </a:r>
          </a:p>
          <a:p>
            <a:r>
              <a:t>abajo, una réplica en otra región; a la derecha, el banco y la autoridad de tránsito.</a:t>
            </a:r>
          </a:p>
          <a:p>
            <a:r>
              <a:t>Jemima les muestra cómo medimos que esto funciona.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Calidad: los números que se comprometen</a:t>
            </a:r>
          </a:p>
          <a:p/>
          <a:p>
            <a:r>
              <a:t>Usamos los dos modelos de ISO 9126 del programa: calidad del producto y calidad en uso.</a:t>
            </a:r>
          </a:p>
          <a:p>
            <a:r>
              <a:t>[CLIC] Eficacia: setenta y dos por ciento completa el pago sin ayuda.</a:t>
            </a:r>
          </a:p>
          <a:p>
            <a:r>
              <a:t>[CLIC] Rendimiento: el verificador sabe si una placa pagó en dos segundos.</a:t>
            </a:r>
          </a:p>
          <a:p>
            <a:r>
              <a:t>[CLIC] Disponibilidad: cero pagos perdidos aunque se caiga la red.</a:t>
            </a:r>
          </a:p>
          <a:p>
            <a:r>
              <a:t>[CLIC] Seguridad: el cien por ciento de las multas con foto, hora, ubicación y la firma del oficial.</a:t>
            </a:r>
          </a:p>
          <a:p>
            <a:r>
              <a:t>Cada entrega se acepta con una prueba de desempeño, ahora en la calle y con doce personas.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Arquitectura de la información</a:t>
            </a:r>
          </a:p>
          <a:p/>
          <a:p>
            <a:r>
              <a:t>La arquitectura de la información organiza los contenidos para que la gente los encuentre. La</a:t>
            </a:r>
          </a:p>
          <a:p>
            <a:r>
              <a:t>organizamos por momento de uso.</a:t>
            </a:r>
          </a:p>
          <a:p>
            <a:r>
              <a:t>[CLIC] Antes: la señal con el color de la banqueta y el mapa en la app.</a:t>
            </a:r>
          </a:p>
          <a:p>
            <a:r>
              <a:t>[CLIC] Durante: tres pasos, placa, tiempo y pago, con la tarifa siempre arriba.</a:t>
            </a:r>
          </a:p>
          <a:p>
            <a:r>
              <a:t>[CLIC] Después: comprobante con folio, aviso antes de vencer y cómo reclamar.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Jemima · Prototipo</a:t>
            </a:r>
          </a:p>
          <a:p/>
          <a:p>
            <a:r>
              <a:t>Desarrollamos una parte del sistema: la pantalla del parquímetro. Usa el tarifario real de la</a:t>
            </a:r>
          </a:p>
          <a:p>
            <a:r>
              <a:t>capital y trae un modo de prueba que cronometra cada intento y calcula si llegamos al setenta y dos</a:t>
            </a:r>
          </a:p>
          <a:p>
            <a:r>
              <a:t>por ciento. Y en el paso de pago dice lo que el cuidacarros no quiere que se sepa: este es el único</a:t>
            </a:r>
          </a:p>
          <a:p>
            <a:r>
              <a:t>cobro. Santiago cierra con cómo se construye.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Arquitectura en el ciclo de vida</a:t>
            </a:r>
          </a:p>
          <a:p/>
          <a:p>
            <a:r>
              <a:t>Para elegir cómo trabajar usamos los siete factores de la clase. La pantalla no se sabe cómo debe</a:t>
            </a:r>
          </a:p>
          <a:p>
            <a:r>
              <a:t>quedar hasta probarla con gente, cada Delegación quiere algo distinto y hay riesgos fuertes al</a:t>
            </a:r>
          </a:p>
          <a:p>
            <a:r>
              <a:t>inicio. Por eso combinamos dos métodos.</a:t>
            </a:r>
          </a:p>
          <a:p>
            <a:r>
              <a:t>[CLIC] Por fuera, el modelo en espiral: en cada vuelta se revisan primero los riesgos, igual que</a:t>
            </a:r>
          </a:p>
          <a:p>
            <a:r>
              <a:t>hizo Smartmedia probando y corrigiendo. Por dentro,</a:t>
            </a:r>
          </a:p>
          <a:p>
            <a:r>
              <a:t>Scrum con los cuatro pasos de arquitectura de la lámina: especificar y priorizar casos de uso,</a:t>
            </a:r>
          </a:p>
          <a:p>
            <a:r>
              <a:t>arquitectura base en el primer sprint y refinamiento en cada sprint.</a:t>
            </a:r>
          </a:p>
          <a:p>
            <a:r>
              <a:t>[CLIC] Cuatro fases: concertación con la colonia piloto; pago por placa y verificación; app y red</a:t>
            </a:r>
          </a:p>
          <a:p>
            <a:r>
              <a:t>monitoreada; y, con datos, sensores.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Los cobros de personas ajenas</a:t>
            </a:r>
          </a:p>
          <a:p/>
          <a:p>
            <a:r>
              <a:t>Volvemos al cuidacarros, porque es el problema que más se parece a Guatemala.</a:t>
            </a:r>
          </a:p>
          <a:p>
            <a:r>
              <a:t>[CLIC] Información: la pantalla dice que es el único cobro.</a:t>
            </a:r>
          </a:p>
          <a:p>
            <a:r>
              <a:t>[CLIC] Software: el conductor puede reportar un cobro sin dar su nombre, y el sistema marca las</a:t>
            </a:r>
          </a:p>
          <a:p>
            <a:r>
              <a:t>cuadras que están llenas pero donde casi nadie paga: ahí hay alguien cobrando.</a:t>
            </a:r>
          </a:p>
          <a:p>
            <a:r>
              <a:t>[CLIC] Ciclo de vida: antes de instalar, contar cuántos cuidacarros hay y acordar con la</a:t>
            </a:r>
          </a:p>
          <a:p>
            <a:r>
              <a:t>Procuraduría de los Derechos Humanos cómo se actúa, como se hizo en Antigua.</a:t>
            </a:r>
          </a:p>
          <a:p>
            <a:r>
              <a:t>[CLIC] Y una opción para la Delegación: ofrecer trabajo formal de orientación, pagado con el treinta por ciento comunitario.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Santiago · Cierre</a:t>
            </a:r>
          </a:p>
          <a:p/>
          <a:p>
            <a:r>
              <a:t>Tres ideas para llevarse. La pantalla era la mitad del problema. Las funciones que faltaban ya</a:t>
            </a:r>
          </a:p>
          <a:p>
            <a:r>
              <a:t>estaban en el equipo. Y lo que se cobra se publica, porque sin confianza no hay sistema. Gracias;</a:t>
            </a:r>
          </a:p>
          <a:p>
            <a:r>
              <a:t>con gusto respondemos sus preguntas.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ody"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/>
          <p:nvPr>
            <p:ph type="title"/>
          </p:nvPr>
        </p:nvSpPr>
        <p:spPr>
          <a:xfrm>
            <a:off x="812800" y="2112615"/>
            <a:ext cx="2794000" cy="8940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15000"/>
              </a:lnSpc>
              <a:buNone/>
              <a:defRPr lang="en-US" sz="32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15000"/>
              </a:lnSpc>
              <a:buNone/>
            </a:pPr>
            <a:endParaRPr lang="en-US" sz="3200" dirty="0"/>
          </a:p>
        </p:txBody>
      </p:sp>
      <p:sp>
        <p:nvSpPr>
          <p:cNvPr id="3" name="Text Placeholder 2"/>
          <p:cNvSpPr/>
          <p:nvPr>
            <p:ph idx="101" type="body"/>
          </p:nvPr>
        </p:nvSpPr>
        <p:spPr>
          <a:xfrm>
            <a:off x="812800" y="3311475"/>
            <a:ext cx="10566400" cy="27337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>
            <a:lvl1pPr algn="l" indent="0" marL="0">
              <a:lnSpc>
                <a:spcPct val="140000"/>
              </a:lnSpc>
              <a:buNone/>
              <a:defRPr lang="en-US" sz="1600" dirty="0">
                <a:solidFill>
                  <a:srgbClr val="111114"/>
                </a:solidFill>
                <a:latin typeface="Arial" pitchFamily="34" charset="0"/>
                <a:ea typeface="Arial" pitchFamily="34" charset="-122"/>
                <a:cs typeface="Arial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endParaRPr lang="en-US" sz="1600" dirty="0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12.png"/><Relationship Id="rId4" Type="http://schemas.openxmlformats.org/officeDocument/2006/relationships/image" Target="../media/image13.png"/><Relationship Id="rId5" Type="http://schemas.openxmlformats.org/officeDocument/2006/relationships/image" Target="../media/image5.png"/><Relationship Id="rId6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arking-meter-5AA2F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00" y="825500"/>
            <a:ext cx="698500" cy="6985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62000" y="1841500"/>
            <a:ext cx="10160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5AA2FF"/>
                </a:solidFill>
                <a:latin typeface="Arial"/>
              </a:rPr>
              <a:t>ANÁLISIS Y DISEÑO DE SISTEMAS II · TAREA 3 · CASO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62000" y="2159000"/>
            <a:ext cx="10795000" cy="825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5400" b="1">
                <a:solidFill>
                  <a:srgbClr val="F2F3F5"/>
                </a:solidFill>
                <a:latin typeface="Arial"/>
              </a:rPr>
              <a:t>Repensando los parquímetros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62000" y="3048000"/>
            <a:ext cx="10160000" cy="381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600" b="0">
                <a:solidFill>
                  <a:srgbClr val="A8AEB8"/>
                </a:solidFill>
                <a:latin typeface="Arial"/>
              </a:rPr>
              <a:t>SIEP: una solución desde la arquitectura del software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2000" y="41910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Santiago Julián Barrera Reyes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50000" y="41910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Scrum Master · coordinador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2000" y="46736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Jemima Solmaira Chavajay Quiejú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50000" y="46736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Product Owner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2000" y="5156200"/>
            <a:ext cx="571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1">
                <a:solidFill>
                  <a:srgbClr val="F2F3F5"/>
                </a:solidFill>
                <a:latin typeface="Arial"/>
              </a:rPr>
              <a:t>Byron Josué Par Rancho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50000" y="5156200"/>
            <a:ext cx="4445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900" b="0">
                <a:solidFill>
                  <a:srgbClr val="A8AEB8"/>
                </a:solidFill>
                <a:latin typeface="Arial"/>
              </a:rPr>
              <a:t>Equipo de desarrollo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2000" y="6350000"/>
            <a:ext cx="10160000" cy="190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300" b="0">
                <a:solidFill>
                  <a:srgbClr val="A8AEB8"/>
                </a:solidFill>
                <a:latin typeface="Arial"/>
              </a:rPr>
              <a:t>Grupo 2 · ECYS, USAC · MBA. MSc. Claudia Rojas de Morán · octubre de 2026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EL CASO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SERVIparq quiere que el cajón rote, pero el programa tiene seis problemas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137664"/>
            <a:ext cx="10668000" cy="597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A8AEB8"/>
                </a:solidFill>
                <a:latin typeface="Arial"/>
              </a:rPr>
              <a:t>Ciudad de México, 2012. Un cajón de estacionamiento vale hasta </a:t>
            </a:r>
            <a:r>
              <a:rPr sz="2000" b="1">
                <a:solidFill>
                  <a:srgbClr val="A8AEB8"/>
                </a:solidFill>
                <a:latin typeface="Arial"/>
              </a:rPr>
              <a:t>200 mil pesos</a:t>
            </a:r>
            <a:r>
              <a:rPr sz="2000" b="0">
                <a:solidFill>
                  <a:srgbClr val="A8AEB8"/>
                </a:solidFill>
                <a:latin typeface="Arial"/>
              </a:rPr>
              <a:t>: la meta es que lo usen muchos conductores, no uno solo.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62000" y="3052572"/>
            <a:ext cx="3429000" cy="3170428"/>
            <a:chOff x="762000" y="3052572"/>
            <a:chExt cx="3429000" cy="3170428"/>
          </a:xfrm>
        </p:grpSpPr>
        <p:sp>
          <p:nvSpPr>
            <p:cNvPr id="18" name="Rounded Rectangle 17"/>
            <p:cNvSpPr/>
            <p:nvPr/>
          </p:nvSpPr>
          <p:spPr>
            <a:xfrm>
              <a:off x="762000" y="3052572"/>
              <a:ext cx="3429000" cy="31704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281172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70 / 30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4052062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Así se reparte lo cobrado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016000" y="4727702"/>
              <a:ext cx="2921000" cy="101559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70 % para operar y mantener los equipos.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30 % se reinvierte en la comunidad.</a:t>
              </a:r>
            </a:p>
          </p:txBody>
        </p:sp>
      </p:grpSp>
      <p:grpSp>
        <p:nvGrpSpPr>
          <p:cNvPr id="22" name="Group 21"/>
          <p:cNvGrpSpPr/>
          <p:nvPr/>
        </p:nvGrpSpPr>
        <p:grpSpPr>
          <a:xfrm>
            <a:off x="4381500" y="3052572"/>
            <a:ext cx="3429000" cy="3170428"/>
            <a:chOff x="4381500" y="3052572"/>
            <a:chExt cx="3429000" cy="3170428"/>
          </a:xfrm>
        </p:grpSpPr>
        <p:sp>
          <p:nvSpPr>
            <p:cNvPr id="23" name="Rounded Rectangle 22"/>
            <p:cNvSpPr/>
            <p:nvPr/>
          </p:nvSpPr>
          <p:spPr>
            <a:xfrm>
              <a:off x="4381500" y="3052572"/>
              <a:ext cx="3429000" cy="31704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35500" y="3281172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6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635500" y="4052062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problemas en el diagnóstico</a:t>
              </a:r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4635500" y="4727702"/>
              <a:ext cx="2921000" cy="126949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Vecinos no consultados, cuidacarros, instrucciones confusas, reclamos sin respuesta, falta de personal y desconfianza.</a:t>
              </a:r>
            </a:p>
          </p:txBody>
        </p:sp>
      </p:grpSp>
      <p:grpSp>
        <p:nvGrpSpPr>
          <p:cNvPr id="27" name="Group 26"/>
          <p:cNvGrpSpPr/>
          <p:nvPr/>
        </p:nvGrpSpPr>
        <p:grpSpPr>
          <a:xfrm>
            <a:off x="8001000" y="3052572"/>
            <a:ext cx="3429000" cy="3170428"/>
            <a:chOff x="8001000" y="3052572"/>
            <a:chExt cx="3429000" cy="3170428"/>
          </a:xfrm>
        </p:grpSpPr>
        <p:sp>
          <p:nvSpPr>
            <p:cNvPr id="28" name="Rounded Rectangle 27"/>
            <p:cNvSpPr/>
            <p:nvPr/>
          </p:nvSpPr>
          <p:spPr>
            <a:xfrm>
              <a:off x="8001000" y="3052572"/>
              <a:ext cx="3429000" cy="31704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9" name="Picture 28" descr="users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8255000" y="3281172"/>
              <a:ext cx="406400" cy="406400"/>
            </a:xfrm>
            <a:prstGeom prst="rect">
              <a:avLst/>
            </a:prstGeom>
          </p:spPr>
        </p:pic>
        <p:sp>
          <p:nvSpPr>
            <p:cNvPr id="30" name="TextBox 29"/>
            <p:cNvSpPr txBox="1"/>
            <p:nvPr/>
          </p:nvSpPr>
          <p:spPr>
            <a:xfrm>
              <a:off x="8255000" y="3865372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Smartmedia mide con personas</a:t>
              </a: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8255000" y="4541012"/>
              <a:ext cx="2921000" cy="15233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Pide tareas reales con el parquímetro y mide si la gente encuentra y entiende la información. Hasta recrearon una calle en una sala.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INVESTIGACIÓN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En Guatemala se cobra Q3 por media hora, y también cobran los cuidacarros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3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3429000" cy="3958336"/>
            <a:chOff x="762000" y="2264664"/>
            <a:chExt cx="3429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2493264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Q3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264154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por cada 30 minutos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939794"/>
              <a:ext cx="2921000" cy="2031187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Acuerdo COM-40-2022 de la Municipalidad de Guatemala, vigente desde febrero de 2024. Banqueta por colores: blanco se puede, rojo no. EMETRA anunció pago por aplicación.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4381500" y="2264664"/>
            <a:ext cx="3429000" cy="3958336"/>
            <a:chOff x="4381500" y="2264664"/>
            <a:chExt cx="3429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43815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4635500" y="2493264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2,500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4635500" y="3264154"/>
              <a:ext cx="2921000" cy="5867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objetos que apartaban lugares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4635500" y="3939794"/>
              <a:ext cx="2921000" cy="1777289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Retirados en un operativo de la PMT (2023). Cobrar por dejar estacionar puede ser extorsión: se denuncia al 1551. Zona 13, 2026: 33 personas cobraban hasta US$50.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8001000" y="2264664"/>
            <a:ext cx="3429000" cy="3958336"/>
            <a:chOff x="8001000" y="2264664"/>
            <a:chExt cx="3429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8001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8255000" y="2493264"/>
              <a:ext cx="2921000" cy="72009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400" b="1">
                  <a:solidFill>
                    <a:srgbClr val="5AA2FF"/>
                  </a:solidFill>
                  <a:latin typeface="Arial"/>
                </a:rPr>
                <a:t>Q12 M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8255000" y="3264154"/>
              <a:ext cx="2921000" cy="8801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cobró MarbEx en 2025, Antigua Guatemala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8255000" y="4233164"/>
              <a:ext cx="2921000" cy="1777289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Marbete digital por placa: Q7 M en 2024. En 2026 la Corte de Constitucionalidad suspendió la base de datos de placas y la multa de Q500.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LOS SEIS PROBLEMAS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Tres de los seis problemas no se arreglan con una pantalla mejor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4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users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0" y="2493264"/>
              <a:ext cx="406400" cy="4064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016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Gobierno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779774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P-01 Vecinos no consultados.</a:t>
              </a:r>
            </a:p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P-06 Nadie ve a dónde va el dinero.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icture 22" descr="map-pin-5AA2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3000" y="2493264"/>
              <a:ext cx="406400" cy="4064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683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Información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3779774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P-03 Instrucciones confusas y solo monedas.</a:t>
              </a:r>
            </a:p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P-04 No se sabe cómo reclamar una multa.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icture 27" descr="wrench-5AA2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0000" y="2493264"/>
              <a:ext cx="406400" cy="4064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50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Capacidad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3779774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P-05 Falta personal. El equipo ya podía cobrar con tarjeta y avisar vandalismo: estaba apagado.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3" name="Picture 32" descr="hand-coins-5AA2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17000" y="2493264"/>
              <a:ext cx="406400" cy="4064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9017000" y="3077464"/>
              <a:ext cx="2159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Cobro informal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3779774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P-02 Cuidacarros («franeleros» en el caso): apartan el lugar y cobran por él.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REQUISITOS DE DESEMPEÑO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72 % es el éxito esperado, pero cada tarea merece su propio número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5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264664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" y="2404364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Antes del uso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2500" y="2709164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Encontrar la zona, un cajón y su parquímetro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81500" y="2264664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404364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Durante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2709164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Entender tarifa y tiempo máximo, y pagar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01000" y="2264664"/>
            <a:ext cx="3429000" cy="104775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191500" y="2404364"/>
            <a:ext cx="3048000" cy="2794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1">
                <a:solidFill>
                  <a:srgbClr val="F2F3F5"/>
                </a:solidFill>
                <a:latin typeface="Arial"/>
              </a:rPr>
              <a:t>Después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91500" y="2709164"/>
            <a:ext cx="3048000" cy="444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Saber cuándo vence y cómo reclamar</a:t>
            </a:r>
          </a:p>
        </p:txBody>
      </p:sp>
      <p:grpSp>
        <p:nvGrpSpPr>
          <p:cNvPr id="25" name="Group 24"/>
          <p:cNvGrpSpPr/>
          <p:nvPr/>
        </p:nvGrpSpPr>
        <p:grpSpPr>
          <a:xfrm>
            <a:off x="762000" y="3502914"/>
            <a:ext cx="5207000" cy="2720086"/>
            <a:chOff x="762000" y="3502914"/>
            <a:chExt cx="5207000" cy="2720086"/>
          </a:xfrm>
        </p:grpSpPr>
        <p:sp>
          <p:nvSpPr>
            <p:cNvPr id="26" name="Rounded Rectangle 25"/>
            <p:cNvSpPr/>
            <p:nvPr/>
          </p:nvSpPr>
          <p:spPr>
            <a:xfrm>
              <a:off x="762000" y="3502914"/>
              <a:ext cx="5207000" cy="272008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1016000" y="3731514"/>
              <a:ext cx="4699000" cy="85344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64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1016000" y="4635754"/>
              <a:ext cx="4699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el nivel que acordaron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16000" y="5018024"/>
              <a:ext cx="4699000" cy="101559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80 % encuentra la información (va con prisa)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× 90 % la usa bien</a:t>
              </a:r>
            </a:p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= 72 % completa la tarea.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6223000" y="3502914"/>
            <a:ext cx="5207000" cy="2720086"/>
            <a:chOff x="6223000" y="3502914"/>
            <a:chExt cx="5207000" cy="2720086"/>
          </a:xfrm>
        </p:grpSpPr>
        <p:sp>
          <p:nvSpPr>
            <p:cNvPr id="31" name="Rounded Rectangle 30"/>
            <p:cNvSpPr/>
            <p:nvPr/>
          </p:nvSpPr>
          <p:spPr>
            <a:xfrm>
              <a:off x="6223000" y="3502914"/>
              <a:ext cx="5207000" cy="272008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477000" y="3731514"/>
              <a:ext cx="4699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Un número por tarea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477000" y="41125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Pagar por placa (si falla, multa injusta)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10096500" y="41125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81 %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477000" y="45824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Entender la tarifa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10096500" y="45824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6477000" y="50523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Saber cómo reclamar</a:t>
              </a:r>
            </a:p>
          </p:txBody>
        </p:sp>
        <p:sp>
          <p:nvSpPr>
            <p:cNvPr id="38" name="TextBox 37"/>
            <p:cNvSpPr txBox="1"/>
            <p:nvPr/>
          </p:nvSpPr>
          <p:spPr>
            <a:xfrm>
              <a:off x="10096500" y="50523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39" name="TextBox 38"/>
            <p:cNvSpPr txBox="1"/>
            <p:nvPr/>
          </p:nvSpPr>
          <p:spPr>
            <a:xfrm>
              <a:off x="6477000" y="5522214"/>
              <a:ext cx="35560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0">
                  <a:solidFill>
                    <a:srgbClr val="A8AEB8"/>
                  </a:solidFill>
                  <a:latin typeface="Arial"/>
                </a:rPr>
                <a:t>Ubicar el número del parquímetro</a:t>
              </a:r>
            </a:p>
          </p:txBody>
        </p:sp>
        <p:sp>
          <p:nvSpPr>
            <p:cNvPr id="40" name="TextBox 39"/>
            <p:cNvSpPr txBox="1"/>
            <p:nvPr/>
          </p:nvSpPr>
          <p:spPr>
            <a:xfrm>
              <a:off x="10096500" y="5522214"/>
              <a:ext cx="1079500" cy="4826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r">
                <a:lnSpc>
                  <a:spcPct val="112000"/>
                </a:lnSpc>
              </a:pPr>
              <a:r>
                <a:rPr sz="3000" b="1">
                  <a:solidFill>
                    <a:srgbClr val="5AA2FF"/>
                  </a:solidFill>
                  <a:latin typeface="Arial"/>
                </a:rPr>
                <a:t>64 %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CASO DE NEGOCIO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negocio son cinco procesos; el cuidacarros queda fuera, pero cuenta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264664"/>
            <a:ext cx="3810000" cy="395833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Negocio:</a:t>
            </a:r>
            <a:r>
              <a:rPr sz="1600" b="0">
                <a:solidFill>
                  <a:srgbClr val="A8AEB8"/>
                </a:solidFill>
                <a:latin typeface="Arial"/>
              </a:rPr>
              <a:t> gestionar el estacionamiento en la calle.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Actores:</a:t>
            </a:r>
            <a:r>
              <a:rPr sz="1600" b="0">
                <a:solidFill>
                  <a:srgbClr val="A8AEB8"/>
                </a:solidFill>
                <a:latin typeface="Arial"/>
              </a:rPr>
              <a:t> conductor, comité vecinal, Delegación, oficial de tránsito, banco y proveedor del parquímetro.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Trabajadores:</a:t>
            </a:r>
            <a:r>
              <a:rPr sz="1600" b="0">
                <a:solidFill>
                  <a:srgbClr val="A8AEB8"/>
                </a:solidFill>
                <a:latin typeface="Arial"/>
              </a:rPr>
              <a:t> el verificador y el personal de SERVIparq.</a:t>
            </a:r>
          </a:p>
          <a:p>
            <a:pPr algn="l">
              <a:lnSpc>
                <a:spcPct val="112000"/>
              </a:lnSpc>
            </a:pPr>
          </a:p>
          <a:p>
            <a:pPr algn="l">
              <a:lnSpc>
                <a:spcPct val="112000"/>
              </a:lnSpc>
            </a:pPr>
            <a:r>
              <a:rPr sz="1600" b="1">
                <a:solidFill>
                  <a:srgbClr val="A8AEB8"/>
                </a:solidFill>
                <a:latin typeface="Arial"/>
              </a:rPr>
              <a:t>No es actor:</a:t>
            </a:r>
            <a:r>
              <a:rPr sz="1600" b="0">
                <a:solidFill>
                  <a:srgbClr val="A8AEB8"/>
                </a:solidFill>
                <a:latin typeface="Arial"/>
              </a:rPr>
              <a:t> el cuidacarros. No participa de forma legal, pero el diseño lo toma en cuenta.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5275303" y="2137664"/>
            <a:ext cx="5832395" cy="4212336"/>
            <a:chOff x="5275303" y="2137664"/>
            <a:chExt cx="5832395" cy="4212336"/>
          </a:xfrm>
        </p:grpSpPr>
        <p:sp>
          <p:nvSpPr>
            <p:cNvPr id="18" name="Rounded Rectangle 17"/>
            <p:cNvSpPr/>
            <p:nvPr/>
          </p:nvSpPr>
          <p:spPr>
            <a:xfrm>
              <a:off x="5275303" y="2137664"/>
              <a:ext cx="5832395" cy="42123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9" name="Picture 18" descr="cdu-descomposicion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402303" y="2264664"/>
              <a:ext cx="5578395" cy="3958336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POSIBLES SOLUCIONES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Elegimos pagar por placa con el equipo que ya se compró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7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2493264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S-1 Rediseñar solo la información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502279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Barato y rápido. No resuelve la falta de personal ni la desconfianza.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DENTRO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28575">
              <a:solidFill>
                <a:srgbClr val="5AA2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83000" y="2493264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S-2 Pago por placa, conectado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83000" y="3502279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Monedas, tarjeta o celular con el equipo ya comprado. Ataca 5 de los 6 problemas.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NÚCLEO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000" y="2493264"/>
              <a:ext cx="2032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S-3 Sensores y tarifa por demanda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50000" y="3502279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Como San Francisco. Caro, expuesto al vandalismo y sin datos todavía.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5715000"/>
              <a:ext cx="2032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DESPUÉS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017000" y="2493264"/>
              <a:ext cx="2159000" cy="92011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S-4 Gobierno comunitario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017000" y="3502279"/>
              <a:ext cx="2159000" cy="1075334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Consulta previa, tablero público y protocolo con los cuidacarros.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5715000"/>
              <a:ext cx="2159000" cy="2794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000" b="1">
                  <a:solidFill>
                    <a:srgbClr val="5AA2FF"/>
                  </a:solidFill>
                  <a:latin typeface="Arial"/>
                </a:rPr>
                <a:t>ALREDEDOR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DEL SOFTWARE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Cada proceso es un servicio, y los servicios se avisan con eventos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62000" y="22646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52500" y="22646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CDU-01</a:t>
            </a:r>
            <a:r>
              <a:rPr sz="1700" b="0">
                <a:solidFill>
                  <a:srgbClr val="F2F3F5"/>
                </a:solidFill>
                <a:latin typeface="Arial"/>
              </a:rPr>
              <a:t>  Zonas y comunidad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2000" y="28742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52500" y="28742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CDU-02</a:t>
            </a:r>
            <a:r>
              <a:rPr sz="1700" b="0">
                <a:solidFill>
                  <a:srgbClr val="F2F3F5"/>
                </a:solidFill>
                <a:latin typeface="Arial"/>
              </a:rPr>
              <a:t>  Cobro por placa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62000" y="34838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500" y="34838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CDU-03</a:t>
            </a:r>
            <a:r>
              <a:rPr sz="1700" b="0">
                <a:solidFill>
                  <a:srgbClr val="F2F3F5"/>
                </a:solidFill>
                <a:latin typeface="Arial"/>
              </a:rPr>
              <a:t>  Verificación y sanción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62000" y="40934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52500" y="40934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CDU-04</a:t>
            </a:r>
            <a:r>
              <a:rPr sz="1700" b="0">
                <a:solidFill>
                  <a:srgbClr val="F2F3F5"/>
                </a:solidFill>
                <a:latin typeface="Arial"/>
              </a:rPr>
              <a:t>  Transparencia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62000" y="4703064"/>
            <a:ext cx="3683000" cy="508000"/>
          </a:xfrm>
          <a:prstGeom prst="roundRect">
            <a:avLst>
              <a:gd name="adj" fmla="val 6000"/>
            </a:avLst>
          </a:prstGeom>
          <a:solidFill>
            <a:srgbClr val="1B1D21"/>
          </a:solidFill>
          <a:ln w="9525">
            <a:solidFill>
              <a:srgbClr val="2C303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52500" y="4703064"/>
            <a:ext cx="3365500" cy="50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2000"/>
              </a:lnSpc>
            </a:pPr>
            <a:r>
              <a:rPr sz="1700" b="1">
                <a:solidFill>
                  <a:srgbClr val="F2F3F5"/>
                </a:solidFill>
                <a:latin typeface="Arial"/>
              </a:rPr>
              <a:t>CDU-05</a:t>
            </a:r>
            <a:r>
              <a:rPr sz="1700" b="0">
                <a:solidFill>
                  <a:srgbClr val="F2F3F5"/>
                </a:solidFill>
                <a:latin typeface="Arial"/>
              </a:rPr>
              <a:t>  Red y mantenimiento</a:t>
            </a:r>
          </a:p>
        </p:txBody>
      </p:sp>
      <p:grpSp>
        <p:nvGrpSpPr>
          <p:cNvPr id="26" name="Group 25"/>
          <p:cNvGrpSpPr/>
          <p:nvPr/>
        </p:nvGrpSpPr>
        <p:grpSpPr>
          <a:xfrm>
            <a:off x="5894853" y="2137664"/>
            <a:ext cx="4593295" cy="3005836"/>
            <a:chOff x="5894853" y="2137664"/>
            <a:chExt cx="4593295" cy="3005836"/>
          </a:xfrm>
        </p:grpSpPr>
        <p:sp>
          <p:nvSpPr>
            <p:cNvPr id="27" name="Rounded Rectangle 26"/>
            <p:cNvSpPr/>
            <p:nvPr/>
          </p:nvSpPr>
          <p:spPr>
            <a:xfrm>
              <a:off x="5894853" y="2137664"/>
              <a:ext cx="4593295" cy="30058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icture 27" descr="bloques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6021853" y="2264664"/>
              <a:ext cx="4339295" cy="2751836"/>
            </a:xfrm>
            <a:prstGeom prst="rect">
              <a:avLst/>
            </a:prstGeom>
          </p:spPr>
        </p:pic>
      </p:grpSp>
      <p:grpSp>
        <p:nvGrpSpPr>
          <p:cNvPr id="29" name="Group 28"/>
          <p:cNvGrpSpPr/>
          <p:nvPr/>
        </p:nvGrpSpPr>
        <p:grpSpPr>
          <a:xfrm>
            <a:off x="762000" y="5270500"/>
            <a:ext cx="10636250" cy="952500"/>
            <a:chOff x="762000" y="5270500"/>
            <a:chExt cx="10636250" cy="952500"/>
          </a:xfrm>
        </p:grpSpPr>
        <p:sp>
          <p:nvSpPr>
            <p:cNvPr id="30" name="Rounded Rectangle 29"/>
            <p:cNvSpPr/>
            <p:nvPr/>
          </p:nvSpPr>
          <p:spPr>
            <a:xfrm>
              <a:off x="76200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95250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El pago queda en la placa: no hay boleto</a:t>
              </a:r>
            </a:p>
          </p:txBody>
        </p:sp>
        <p:sp>
          <p:nvSpPr>
            <p:cNvPr id="32" name="Rounded Rectangle 31"/>
            <p:cNvSpPr/>
            <p:nvPr/>
          </p:nvSpPr>
          <p:spPr>
            <a:xfrm>
              <a:off x="346075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365125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Se encienden el pago con tarjeta y la alarma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615950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35000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La multa nace solo si el oficial la confirma</a:t>
              </a:r>
            </a:p>
          </p:txBody>
        </p:sp>
        <p:sp>
          <p:nvSpPr>
            <p:cNvPr id="36" name="Rounded Rectangle 35"/>
            <p:cNvSpPr/>
            <p:nvPr/>
          </p:nvSpPr>
          <p:spPr>
            <a:xfrm>
              <a:off x="8858250" y="5270500"/>
              <a:ext cx="2540000" cy="9525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7" name="TextBox 36"/>
            <p:cNvSpPr txBox="1"/>
            <p:nvPr/>
          </p:nvSpPr>
          <p:spPr>
            <a:xfrm>
              <a:off x="9048750" y="5270500"/>
              <a:ext cx="2159000" cy="9525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700" b="1">
                  <a:solidFill>
                    <a:srgbClr val="F2F3F5"/>
                  </a:solidFill>
                  <a:latin typeface="Arial"/>
                </a:rPr>
                <a:t>Todo lo cobrado se publica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6" fill="hold">
                      <p:stCondLst>
                        <p:cond delay="indefinite"/>
                      </p:stCondLst>
                      <p:childTnLst>
                        <p:par>
                          <p:cTn id="7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" dur="7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8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1" dur="5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500" decel="100000" fill="hold"/>
                                        <p:tgtEl>
                                          <p:spTgt spid="2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DESPLIEGUE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parquímetro sigue cobrando aunque se caiga la señal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9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2625811" y="2137664"/>
            <a:ext cx="6940378" cy="4212336"/>
            <a:chOff x="2625811" y="2137664"/>
            <a:chExt cx="6940378" cy="4212336"/>
          </a:xfrm>
        </p:grpSpPr>
        <p:sp>
          <p:nvSpPr>
            <p:cNvPr id="17" name="Rounded Rectangle 16"/>
            <p:cNvSpPr/>
            <p:nvPr/>
          </p:nvSpPr>
          <p:spPr>
            <a:xfrm>
              <a:off x="2625811" y="2137664"/>
              <a:ext cx="6940378" cy="42123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despliegue-parq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52811" y="2264664"/>
              <a:ext cx="6686378" cy="3958336"/>
            </a:xfrm>
            <a:prstGeom prst="rect">
              <a:avLst/>
            </a:prstGeom>
          </p:spPr>
        </p:pic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CALIDAD DEL SOFTWARE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Nos comprometemos con cuatro números que se pueden medir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10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TextBox 17"/>
            <p:cNvSpPr txBox="1"/>
            <p:nvPr/>
          </p:nvSpPr>
          <p:spPr>
            <a:xfrm>
              <a:off x="1016000" y="2493264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72 %</a:t>
              </a:r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237484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Eficacia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61975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de los conductores paga sin ayuda la primera vez (calidad en uso, ISO 9126).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3683000" y="2493264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2 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3683000" y="3237484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Rendimiento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361975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para que el verificador sepa si una placa pagó, en 95 de cada 100 consultas.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8" name="TextBox 27"/>
            <p:cNvSpPr txBox="1"/>
            <p:nvPr/>
          </p:nvSpPr>
          <p:spPr>
            <a:xfrm>
              <a:off x="6350000" y="2493264"/>
              <a:ext cx="2032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0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6350000" y="3237484"/>
              <a:ext cx="2032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Disponibilidad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3619754"/>
              <a:ext cx="2032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pagos perdidos aunque se caiga la señal: el equipo guarda y reenvía.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9017000" y="2493264"/>
              <a:ext cx="2159000" cy="69342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5200" b="1">
                  <a:solidFill>
                    <a:srgbClr val="5AA2FF"/>
                  </a:solidFill>
                  <a:latin typeface="Arial"/>
                </a:rPr>
                <a:t>100 %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9017000" y="3237484"/>
              <a:ext cx="2159000" cy="29337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Seguridad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3619754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de las multas con foto, hora, ubicación y confirmación del oficial.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DE LA INFORMACIÓN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La información se ordena por lo que el conductor hace en cada momento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11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3429000" cy="3958336"/>
            <a:chOff x="762000" y="2264664"/>
            <a:chExt cx="3429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8" name="Rounded Rectangle 17"/>
            <p:cNvSpPr/>
            <p:nvPr/>
          </p:nvSpPr>
          <p:spPr>
            <a:xfrm>
              <a:off x="1333500" y="2518664"/>
              <a:ext cx="2286000" cy="2243836"/>
            </a:xfrm>
            <a:prstGeom prst="roundRect">
              <a:avLst>
                <a:gd name="adj" fmla="val 5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Rounded Rectangle 18"/>
            <p:cNvSpPr/>
            <p:nvPr/>
          </p:nvSpPr>
          <p:spPr>
            <a:xfrm>
              <a:off x="2095500" y="2709164"/>
              <a:ext cx="762000" cy="762000"/>
            </a:xfrm>
            <a:prstGeom prst="roundRect">
              <a:avLst>
                <a:gd name="adj" fmla="val 12000"/>
              </a:avLst>
            </a:prstGeom>
            <a:solidFill>
              <a:srgbClr val="0B5CAD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2095500" y="2709164"/>
              <a:ext cx="762000" cy="762000"/>
            </a:xfrm>
            <a:prstGeom prst="rect">
              <a:avLst/>
            </a:prstGeom>
            <a:noFill/>
          </p:spPr>
          <p:txBody>
            <a:bodyPr wrap="square" lIns="0" rIns="0" tIns="0" bIns="0" anchor="ctr">
              <a:noAutofit/>
            </a:bodyPr>
            <a:lstStyle/>
            <a:p>
              <a:pPr algn="ctr">
                <a:lnSpc>
                  <a:spcPct val="112000"/>
                </a:lnSpc>
              </a:pPr>
              <a:r>
                <a:rPr sz="6000" b="1">
                  <a:solidFill>
                    <a:srgbClr val="FFFFFF"/>
                  </a:solidFill>
                  <a:latin typeface="Arial"/>
                </a:rPr>
                <a:t>P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1397000" y="3566414"/>
              <a:ext cx="2159000" cy="254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12000"/>
                </a:lnSpc>
              </a:pPr>
              <a:r>
                <a:rPr sz="1400" b="1">
                  <a:solidFill>
                    <a:srgbClr val="111418"/>
                  </a:solidFill>
                  <a:latin typeface="Arial"/>
                </a:rPr>
                <a:t>Zona con parquímetro</a:t>
              </a: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1397000" y="3788664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ctr">
                <a:lnSpc>
                  <a:spcPct val="112000"/>
                </a:lnSpc>
              </a:pPr>
              <a:r>
                <a:rPr sz="1200" b="0">
                  <a:solidFill>
                    <a:srgbClr val="444A52"/>
                  </a:solidFill>
                  <a:latin typeface="Arial"/>
                </a:rPr>
                <a:t>Q3 por 30 min</a:t>
              </a:r>
            </a:p>
            <a:p>
              <a:pPr algn="ctr">
                <a:lnSpc>
                  <a:spcPct val="112000"/>
                </a:lnSpc>
              </a:pPr>
              <a:r>
                <a:rPr sz="1200" b="0">
                  <a:solidFill>
                    <a:srgbClr val="444A52"/>
                  </a:solidFill>
                  <a:latin typeface="Arial"/>
                </a:rPr>
                <a:t>Parquímetro 0412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1016000" y="4953000"/>
              <a:ext cx="2921000" cy="292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Antes</a:t>
              </a: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016000" y="5283200"/>
              <a:ext cx="2921000" cy="762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Señal con el color de la banqueta, la tarifa y el número del parquímetro.</a:t>
              </a:r>
            </a:p>
          </p:txBody>
        </p:sp>
      </p:grpSp>
      <p:grpSp>
        <p:nvGrpSpPr>
          <p:cNvPr id="25" name="Group 24"/>
          <p:cNvGrpSpPr/>
          <p:nvPr/>
        </p:nvGrpSpPr>
        <p:grpSpPr>
          <a:xfrm>
            <a:off x="4381500" y="2264664"/>
            <a:ext cx="3429000" cy="3958336"/>
            <a:chOff x="4381500" y="2264664"/>
            <a:chExt cx="3429000" cy="3958336"/>
          </a:xfrm>
        </p:grpSpPr>
        <p:sp>
          <p:nvSpPr>
            <p:cNvPr id="26" name="Rounded Rectangle 25"/>
            <p:cNvSpPr/>
            <p:nvPr/>
          </p:nvSpPr>
          <p:spPr>
            <a:xfrm>
              <a:off x="43815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7" name="Picture 26" descr="pantalla-1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5072027" y="2518664"/>
              <a:ext cx="2047946" cy="2243836"/>
            </a:xfrm>
            <a:prstGeom prst="rect">
              <a:avLst/>
            </a:prstGeom>
          </p:spPr>
        </p:pic>
        <p:sp>
          <p:nvSpPr>
            <p:cNvPr id="28" name="TextBox 27"/>
            <p:cNvSpPr txBox="1"/>
            <p:nvPr/>
          </p:nvSpPr>
          <p:spPr>
            <a:xfrm>
              <a:off x="4635500" y="4953000"/>
              <a:ext cx="2921000" cy="292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Durante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4635500" y="5283200"/>
              <a:ext cx="2921000" cy="762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Tres pasos: placa, tiempo y pago, con la tarifa siempre arriba.</a:t>
              </a:r>
            </a:p>
          </p:txBody>
        </p:sp>
      </p:grpSp>
      <p:grpSp>
        <p:nvGrpSpPr>
          <p:cNvPr id="30" name="Group 29"/>
          <p:cNvGrpSpPr/>
          <p:nvPr/>
        </p:nvGrpSpPr>
        <p:grpSpPr>
          <a:xfrm>
            <a:off x="8001000" y="2264664"/>
            <a:ext cx="3429000" cy="3958336"/>
            <a:chOff x="8001000" y="2264664"/>
            <a:chExt cx="3429000" cy="3958336"/>
          </a:xfrm>
        </p:grpSpPr>
        <p:sp>
          <p:nvSpPr>
            <p:cNvPr id="31" name="Rounded Rectangle 30"/>
            <p:cNvSpPr/>
            <p:nvPr/>
          </p:nvSpPr>
          <p:spPr>
            <a:xfrm>
              <a:off x="8001000" y="2264664"/>
              <a:ext cx="3429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2" name="Picture 31" descr="pantalla-4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8691527" y="2518664"/>
              <a:ext cx="2047946" cy="2243836"/>
            </a:xfrm>
            <a:prstGeom prst="rect">
              <a:avLst/>
            </a:prstGeom>
          </p:spPr>
        </p:pic>
        <p:sp>
          <p:nvSpPr>
            <p:cNvPr id="33" name="TextBox 32"/>
            <p:cNvSpPr txBox="1"/>
            <p:nvPr/>
          </p:nvSpPr>
          <p:spPr>
            <a:xfrm>
              <a:off x="8255000" y="4953000"/>
              <a:ext cx="2921000" cy="2921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400" b="1">
                  <a:solidFill>
                    <a:srgbClr val="5AA2FF"/>
                  </a:solidFill>
                  <a:latin typeface="Arial"/>
                </a:rPr>
                <a:t>Después</a:t>
              </a: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8255000" y="5283200"/>
              <a:ext cx="2921000" cy="7620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Comprobante con folio y hora de vencimiento, y cómo reclamar.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2C303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PARTE DESARROLLADA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El prototipo mide si llegamos al 72 % mientras se prueba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12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1230341" y="2137664"/>
            <a:ext cx="9731318" cy="3767836"/>
            <a:chOff x="1230341" y="2137664"/>
            <a:chExt cx="9731318" cy="3767836"/>
          </a:xfrm>
        </p:grpSpPr>
        <p:sp>
          <p:nvSpPr>
            <p:cNvPr id="17" name="Rounded Rectangle 16"/>
            <p:cNvSpPr/>
            <p:nvPr/>
          </p:nvSpPr>
          <p:spPr>
            <a:xfrm>
              <a:off x="1230341" y="2137664"/>
              <a:ext cx="9731318" cy="3767836"/>
            </a:xfrm>
            <a:prstGeom prst="roundRect">
              <a:avLst>
                <a:gd name="adj" fmla="val 3000"/>
              </a:avLst>
            </a:prstGeom>
            <a:solidFill>
              <a:srgbClr val="FFFF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prototipo-cuatro-pantallas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357341" y="2264664"/>
              <a:ext cx="9477318" cy="3513836"/>
            </a:xfrm>
            <a:prstGeom prst="rect">
              <a:avLst/>
            </a:prstGeom>
          </p:spPr>
        </p:pic>
      </p:grpSp>
      <p:sp>
        <p:nvSpPr>
          <p:cNvPr id="19" name="TextBox 18"/>
          <p:cNvSpPr txBox="1"/>
          <p:nvPr/>
        </p:nvSpPr>
        <p:spPr>
          <a:xfrm>
            <a:off x="762000" y="5969000"/>
            <a:ext cx="10668000" cy="254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12000"/>
              </a:lnSpc>
            </a:pPr>
            <a:r>
              <a:rPr sz="1600" b="0">
                <a:solidFill>
                  <a:srgbClr val="A8AEB8"/>
                </a:solidFill>
                <a:latin typeface="Arial"/>
              </a:rPr>
              <a:t>Tarifario real de la capital · pago por placa · aviso contra el cobro informal · modo de prueba que mide el 72 %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ARQUITECTURA EN EL CICLO DE VIDA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Se construye en espiral por fuera y con Scrum por dentro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2137664"/>
            <a:ext cx="10668000" cy="597408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000" b="0">
                <a:solidFill>
                  <a:srgbClr val="A8AEB8"/>
                </a:solidFill>
                <a:latin typeface="Arial"/>
              </a:rPr>
              <a:t>Siete factores de la clase: la pantalla se descubre probando, cada Delegación es distinta y hay riesgos fuertes al inicio.</a:t>
            </a:r>
          </a:p>
        </p:txBody>
      </p:sp>
      <p:grpSp>
        <p:nvGrpSpPr>
          <p:cNvPr id="17" name="Group 16"/>
          <p:cNvGrpSpPr/>
          <p:nvPr/>
        </p:nvGrpSpPr>
        <p:grpSpPr>
          <a:xfrm>
            <a:off x="762000" y="3052572"/>
            <a:ext cx="10668000" cy="1524000"/>
            <a:chOff x="762000" y="3052572"/>
            <a:chExt cx="10668000" cy="1524000"/>
          </a:xfrm>
        </p:grpSpPr>
        <p:sp>
          <p:nvSpPr>
            <p:cNvPr id="18" name="Rounded Rectangle 17"/>
            <p:cNvSpPr/>
            <p:nvPr/>
          </p:nvSpPr>
          <p:spPr>
            <a:xfrm>
              <a:off x="762000" y="3052572"/>
              <a:ext cx="5270500" cy="15240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9" name="TextBox 18"/>
            <p:cNvSpPr txBox="1"/>
            <p:nvPr/>
          </p:nvSpPr>
          <p:spPr>
            <a:xfrm>
              <a:off x="1016000" y="3192272"/>
              <a:ext cx="4826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5AA2FF"/>
                  </a:solidFill>
                  <a:latin typeface="Arial"/>
                </a:rPr>
                <a:t>Espiral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611372"/>
              <a:ext cx="4826000" cy="730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Cada vuelta empieza revisando los riesgos: legales, vandalismo y aceptación de los vecinos.</a:t>
              </a:r>
            </a:p>
          </p:txBody>
        </p:sp>
        <p:sp>
          <p:nvSpPr>
            <p:cNvPr id="21" name="Rounded Rectangle 20"/>
            <p:cNvSpPr/>
            <p:nvPr/>
          </p:nvSpPr>
          <p:spPr>
            <a:xfrm>
              <a:off x="6159500" y="3052572"/>
              <a:ext cx="5270500" cy="1524000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413500" y="3192272"/>
              <a:ext cx="4826000" cy="317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200" b="1">
                  <a:solidFill>
                    <a:srgbClr val="5AA2FF"/>
                  </a:solidFill>
                  <a:latin typeface="Arial"/>
                </a:rPr>
                <a:t>Scrum con arquitectura</a:t>
              </a:r>
            </a:p>
          </p:txBody>
        </p:sp>
        <p:sp>
          <p:nvSpPr>
            <p:cNvPr id="23" name="TextBox 22"/>
            <p:cNvSpPr txBox="1"/>
            <p:nvPr/>
          </p:nvSpPr>
          <p:spPr>
            <a:xfrm>
              <a:off x="6413500" y="3611372"/>
              <a:ext cx="4826000" cy="73025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A8AEB8"/>
                  </a:solidFill>
                  <a:latin typeface="Arial"/>
                </a:rPr>
                <a:t>Pasos 1, 2, 4 y 9 de la lámina: especificar y priorizar casos de uso, arquitectura base en el primer sprint y refinarla en cada sprint.</a:t>
              </a:r>
            </a:p>
          </p:txBody>
        </p:sp>
      </p:grpSp>
      <p:grpSp>
        <p:nvGrpSpPr>
          <p:cNvPr id="24" name="Group 23"/>
          <p:cNvGrpSpPr/>
          <p:nvPr/>
        </p:nvGrpSpPr>
        <p:grpSpPr>
          <a:xfrm>
            <a:off x="762000" y="4716272"/>
            <a:ext cx="10636250" cy="1506728"/>
            <a:chOff x="762000" y="4716272"/>
            <a:chExt cx="10636250" cy="1506728"/>
          </a:xfrm>
        </p:grpSpPr>
        <p:sp>
          <p:nvSpPr>
            <p:cNvPr id="25" name="Rounded Rectangle 24"/>
            <p:cNvSpPr/>
            <p:nvPr/>
          </p:nvSpPr>
          <p:spPr>
            <a:xfrm>
              <a:off x="76200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6" name="TextBox 25"/>
            <p:cNvSpPr txBox="1"/>
            <p:nvPr/>
          </p:nvSpPr>
          <p:spPr>
            <a:xfrm>
              <a:off x="95250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0</a:t>
              </a: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95250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Consulta en la colonia piloto y conteo de cuidacarros</a:t>
              </a:r>
            </a:p>
          </p:txBody>
        </p:sp>
        <p:sp>
          <p:nvSpPr>
            <p:cNvPr id="28" name="Rounded Rectangle 27"/>
            <p:cNvSpPr/>
            <p:nvPr/>
          </p:nvSpPr>
          <p:spPr>
            <a:xfrm>
              <a:off x="346075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365125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1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365125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Pago por placa, verificación y multa con evidencia</a:t>
              </a:r>
            </a:p>
          </p:txBody>
        </p:sp>
        <p:sp>
          <p:nvSpPr>
            <p:cNvPr id="31" name="Rounded Rectangle 30"/>
            <p:cNvSpPr/>
            <p:nvPr/>
          </p:nvSpPr>
          <p:spPr>
            <a:xfrm>
              <a:off x="615950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635000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2</a:t>
              </a: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635000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App del conductor, alarma y reportes</a:t>
              </a:r>
            </a:p>
          </p:txBody>
        </p:sp>
        <p:sp>
          <p:nvSpPr>
            <p:cNvPr id="34" name="Rounded Rectangle 33"/>
            <p:cNvSpPr/>
            <p:nvPr/>
          </p:nvSpPr>
          <p:spPr>
            <a:xfrm>
              <a:off x="8858250" y="4716272"/>
              <a:ext cx="2540000" cy="1506728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48750" y="4843272"/>
              <a:ext cx="2159000" cy="44450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2600" b="1">
                  <a:solidFill>
                    <a:srgbClr val="5AA2FF"/>
                  </a:solidFill>
                  <a:latin typeface="Arial"/>
                </a:rPr>
                <a:t>Fase 3</a:t>
              </a:r>
            </a:p>
          </p:txBody>
        </p:sp>
        <p:sp>
          <p:nvSpPr>
            <p:cNvPr id="36" name="TextBox 35"/>
            <p:cNvSpPr txBox="1"/>
            <p:nvPr/>
          </p:nvSpPr>
          <p:spPr>
            <a:xfrm>
              <a:off x="9048750" y="5300472"/>
              <a:ext cx="2159000" cy="87172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600" b="0">
                  <a:solidFill>
                    <a:srgbClr val="F2F3F5"/>
                  </a:solidFill>
                  <a:latin typeface="Arial"/>
                </a:rPr>
                <a:t>Con datos: sensores y tarifa por demanda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22" presetClass="entr" presetSubtype="8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7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FACTORES EXTERNOS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Al cobro informal se le gana con información, datos y acuerdos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14</a:t>
            </a:r>
          </a:p>
        </p:txBody>
      </p:sp>
      <p:grpSp>
        <p:nvGrpSpPr>
          <p:cNvPr id="16" name="Group 15"/>
          <p:cNvGrpSpPr/>
          <p:nvPr/>
        </p:nvGrpSpPr>
        <p:grpSpPr>
          <a:xfrm>
            <a:off x="762000" y="2264664"/>
            <a:ext cx="2540000" cy="3958336"/>
            <a:chOff x="762000" y="2264664"/>
            <a:chExt cx="2540000" cy="3958336"/>
          </a:xfrm>
        </p:grpSpPr>
        <p:sp>
          <p:nvSpPr>
            <p:cNvPr id="17" name="Rounded Rectangle 16"/>
            <p:cNvSpPr/>
            <p:nvPr/>
          </p:nvSpPr>
          <p:spPr>
            <a:xfrm>
              <a:off x="762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18" name="Picture 17" descr="parking-meter-5AA2FF.png"/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16000" y="2493264"/>
              <a:ext cx="406400" cy="406400"/>
            </a:xfrm>
            <a:prstGeom prst="rect">
              <a:avLst/>
            </a:prstGeom>
          </p:spPr>
        </p:pic>
        <p:sp>
          <p:nvSpPr>
            <p:cNvPr id="19" name="TextBox 18"/>
            <p:cNvSpPr txBox="1"/>
            <p:nvPr/>
          </p:nvSpPr>
          <p:spPr>
            <a:xfrm>
              <a:off x="1016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Información</a:t>
              </a:r>
            </a:p>
          </p:txBody>
        </p:sp>
        <p:sp>
          <p:nvSpPr>
            <p:cNvPr id="20" name="TextBox 19"/>
            <p:cNvSpPr txBox="1"/>
            <p:nvPr/>
          </p:nvSpPr>
          <p:spPr>
            <a:xfrm>
              <a:off x="1016000" y="377977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La pantalla y la señal dicen que el único cobro es el del parquímetro, y cuánto es.</a:t>
              </a:r>
            </a:p>
          </p:txBody>
        </p:sp>
      </p:grpSp>
      <p:grpSp>
        <p:nvGrpSpPr>
          <p:cNvPr id="21" name="Group 20"/>
          <p:cNvGrpSpPr/>
          <p:nvPr/>
        </p:nvGrpSpPr>
        <p:grpSpPr>
          <a:xfrm>
            <a:off x="3429000" y="2264664"/>
            <a:ext cx="2540000" cy="3958336"/>
            <a:chOff x="3429000" y="2264664"/>
            <a:chExt cx="2540000" cy="3958336"/>
          </a:xfrm>
        </p:grpSpPr>
        <p:sp>
          <p:nvSpPr>
            <p:cNvPr id="22" name="Rounded Rectangle 21"/>
            <p:cNvSpPr/>
            <p:nvPr/>
          </p:nvSpPr>
          <p:spPr>
            <a:xfrm>
              <a:off x="3429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3" name="Picture 22" descr="smartphone-5AA2FF.png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3683000" y="2493264"/>
              <a:ext cx="406400" cy="406400"/>
            </a:xfrm>
            <a:prstGeom prst="rect">
              <a:avLst/>
            </a:prstGeom>
          </p:spPr>
        </p:pic>
        <p:sp>
          <p:nvSpPr>
            <p:cNvPr id="24" name="TextBox 23"/>
            <p:cNvSpPr txBox="1"/>
            <p:nvPr/>
          </p:nvSpPr>
          <p:spPr>
            <a:xfrm>
              <a:off x="3683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Software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3683000" y="3779774"/>
              <a:ext cx="2032000" cy="1613002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Reporte sin dar el nombre. El sistema marca las cuadras llenas donde casi nadie paga.</a:t>
              </a:r>
            </a:p>
          </p:txBody>
        </p:sp>
      </p:grpSp>
      <p:grpSp>
        <p:nvGrpSpPr>
          <p:cNvPr id="26" name="Group 25"/>
          <p:cNvGrpSpPr/>
          <p:nvPr/>
        </p:nvGrpSpPr>
        <p:grpSpPr>
          <a:xfrm>
            <a:off x="6096000" y="2264664"/>
            <a:ext cx="2540000" cy="3958336"/>
            <a:chOff x="6096000" y="2264664"/>
            <a:chExt cx="2540000" cy="3958336"/>
          </a:xfrm>
        </p:grpSpPr>
        <p:sp>
          <p:nvSpPr>
            <p:cNvPr id="27" name="Rounded Rectangle 26"/>
            <p:cNvSpPr/>
            <p:nvPr/>
          </p:nvSpPr>
          <p:spPr>
            <a:xfrm>
              <a:off x="6096000" y="2264664"/>
              <a:ext cx="2540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28" name="Picture 27" descr="shield-check-5AA2FF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6350000" y="2493264"/>
              <a:ext cx="406400" cy="406400"/>
            </a:xfrm>
            <a:prstGeom prst="rect">
              <a:avLst/>
            </a:prstGeom>
          </p:spPr>
        </p:pic>
        <p:sp>
          <p:nvSpPr>
            <p:cNvPr id="29" name="TextBox 28"/>
            <p:cNvSpPr txBox="1"/>
            <p:nvPr/>
          </p:nvSpPr>
          <p:spPr>
            <a:xfrm>
              <a:off x="6350000" y="3077464"/>
              <a:ext cx="2032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Ciclo de vida</a:t>
              </a: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6350000" y="3779774"/>
              <a:ext cx="2032000" cy="1881835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Antes de instalar: contar a los cuidacarros y acordar un protocolo con la PDH, como en Antigua.</a:t>
              </a:r>
            </a:p>
          </p:txBody>
        </p:sp>
      </p:grpSp>
      <p:grpSp>
        <p:nvGrpSpPr>
          <p:cNvPr id="31" name="Group 30"/>
          <p:cNvGrpSpPr/>
          <p:nvPr/>
        </p:nvGrpSpPr>
        <p:grpSpPr>
          <a:xfrm>
            <a:off x="8763000" y="2264664"/>
            <a:ext cx="2667000" cy="3958336"/>
            <a:chOff x="8763000" y="2264664"/>
            <a:chExt cx="2667000" cy="3958336"/>
          </a:xfrm>
        </p:grpSpPr>
        <p:sp>
          <p:nvSpPr>
            <p:cNvPr id="32" name="Rounded Rectangle 31"/>
            <p:cNvSpPr/>
            <p:nvPr/>
          </p:nvSpPr>
          <p:spPr>
            <a:xfrm>
              <a:off x="8763000" y="2264664"/>
              <a:ext cx="2667000" cy="3958336"/>
            </a:xfrm>
            <a:prstGeom prst="roundRect">
              <a:avLst>
                <a:gd name="adj" fmla="val 6000"/>
              </a:avLst>
            </a:prstGeom>
            <a:solidFill>
              <a:srgbClr val="1B1D21"/>
            </a:solidFill>
            <a:ln w="9525">
              <a:solidFill>
                <a:srgbClr val="2C3036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pic>
          <p:nvPicPr>
            <p:cNvPr id="33" name="Picture 32" descr="hand-coins-5AA2FF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9017000" y="2493264"/>
              <a:ext cx="406400" cy="406400"/>
            </a:xfrm>
            <a:prstGeom prst="rect">
              <a:avLst/>
            </a:prstGeom>
          </p:spPr>
        </p:pic>
        <p:sp>
          <p:nvSpPr>
            <p:cNvPr id="34" name="TextBox 33"/>
            <p:cNvSpPr txBox="1"/>
            <p:nvPr/>
          </p:nvSpPr>
          <p:spPr>
            <a:xfrm>
              <a:off x="9017000" y="3077464"/>
              <a:ext cx="2159000" cy="613410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00000"/>
                </a:lnSpc>
              </a:pPr>
              <a:r>
                <a:rPr sz="2200" b="1">
                  <a:solidFill>
                    <a:srgbClr val="F2F3F5"/>
                  </a:solidFill>
                  <a:latin typeface="Arial"/>
                </a:rPr>
                <a:t>Opción para la Delegación</a:t>
              </a: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9017000" y="3779774"/>
              <a:ext cx="2159000" cy="1344168"/>
            </a:xfrm>
            <a:prstGeom prst="rect">
              <a:avLst/>
            </a:prstGeom>
            <a:noFill/>
          </p:spPr>
          <p:txBody>
            <a:bodyPr wrap="square" lIns="0" rIns="0" tIns="0" bIns="0" anchor="t">
              <a:noAutofit/>
            </a:bodyPr>
            <a:lstStyle/>
            <a:p>
              <a:pPr algn="l">
                <a:lnSpc>
                  <a:spcPct val="112000"/>
                </a:lnSpc>
              </a:pPr>
              <a:r>
                <a:rPr sz="1800" b="0">
                  <a:solidFill>
                    <a:srgbClr val="A8AEB8"/>
                  </a:solidFill>
                  <a:latin typeface="Arial"/>
                </a:rPr>
                <a:t>Trabajo formal de orientación al usuario, pagado con el 30 % comunitario.</a:t>
              </a:r>
            </a:p>
          </p:txBody>
        </p:sp>
      </p:grp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3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6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" dur="500" decel="1000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4" dur="500" decel="10000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5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500" decel="100000" fill="hold"/>
                                        <p:tgtEl>
                                          <p:spTgt spid="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5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500" decel="100000" fill="hold"/>
                                        <p:tgtEl>
                                          <p:spTgt spid="3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06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0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!!avance0"/>
          <p:cNvSpPr/>
          <p:nvPr/>
        </p:nvSpPr>
        <p:spPr>
          <a:xfrm>
            <a:off x="762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!!rotulo0"/>
          <p:cNvSpPr txBox="1"/>
          <p:nvPr/>
        </p:nvSpPr>
        <p:spPr>
          <a:xfrm>
            <a:off x="762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caso</a:t>
            </a:r>
          </a:p>
        </p:txBody>
      </p:sp>
      <p:sp>
        <p:nvSpPr>
          <p:cNvPr id="4" name="!!avance1"/>
          <p:cNvSpPr/>
          <p:nvPr/>
        </p:nvSpPr>
        <p:spPr>
          <a:xfrm>
            <a:off x="2921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!!rotulo1"/>
          <p:cNvSpPr txBox="1"/>
          <p:nvPr/>
        </p:nvSpPr>
        <p:spPr>
          <a:xfrm>
            <a:off x="2921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El problema</a:t>
            </a:r>
          </a:p>
        </p:txBody>
      </p:sp>
      <p:sp>
        <p:nvSpPr>
          <p:cNvPr id="6" name="!!avance2"/>
          <p:cNvSpPr/>
          <p:nvPr/>
        </p:nvSpPr>
        <p:spPr>
          <a:xfrm>
            <a:off x="5080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!!rotulo2"/>
          <p:cNvSpPr txBox="1"/>
          <p:nvPr/>
        </p:nvSpPr>
        <p:spPr>
          <a:xfrm>
            <a:off x="5080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La solución</a:t>
            </a:r>
          </a:p>
        </p:txBody>
      </p:sp>
      <p:sp>
        <p:nvSpPr>
          <p:cNvPr id="8" name="!!avance3"/>
          <p:cNvSpPr/>
          <p:nvPr/>
        </p:nvSpPr>
        <p:spPr>
          <a:xfrm>
            <a:off x="7239000" y="279400"/>
            <a:ext cx="2032000" cy="38100"/>
          </a:xfrm>
          <a:prstGeom prst="rect">
            <a:avLst/>
          </a:prstGeom>
          <a:solidFill>
            <a:srgbClr val="555B6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!!rotulo3"/>
          <p:cNvSpPr txBox="1"/>
          <p:nvPr/>
        </p:nvSpPr>
        <p:spPr>
          <a:xfrm>
            <a:off x="7239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Calidad e información</a:t>
            </a:r>
          </a:p>
        </p:txBody>
      </p:sp>
      <p:sp>
        <p:nvSpPr>
          <p:cNvPr id="10" name="!!avance4"/>
          <p:cNvSpPr/>
          <p:nvPr/>
        </p:nvSpPr>
        <p:spPr>
          <a:xfrm>
            <a:off x="9398000" y="279400"/>
            <a:ext cx="2032000" cy="38100"/>
          </a:xfrm>
          <a:prstGeom prst="rect">
            <a:avLst/>
          </a:prstGeom>
          <a:solidFill>
            <a:srgbClr val="5AA2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!!rotulo4"/>
          <p:cNvSpPr txBox="1"/>
          <p:nvPr/>
        </p:nvSpPr>
        <p:spPr>
          <a:xfrm>
            <a:off x="9398000" y="368300"/>
            <a:ext cx="2032000" cy="1651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1">
                <a:solidFill>
                  <a:srgbClr val="F2F3F5"/>
                </a:solidFill>
                <a:latin typeface="Arial"/>
              </a:rPr>
              <a:t>Cómo se construye</a:t>
            </a:r>
          </a:p>
        </p:txBody>
      </p:sp>
      <p:sp>
        <p:nvSpPr>
          <p:cNvPr id="12" name="!!antetitulo"/>
          <p:cNvSpPr txBox="1"/>
          <p:nvPr/>
        </p:nvSpPr>
        <p:spPr>
          <a:xfrm>
            <a:off x="762000" y="711200"/>
            <a:ext cx="8890000" cy="2159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500" b="1">
                <a:solidFill>
                  <a:srgbClr val="5AA2FF"/>
                </a:solidFill>
                <a:latin typeface="Arial"/>
              </a:rPr>
              <a:t>CIERRE</a:t>
            </a:r>
          </a:p>
        </p:txBody>
      </p:sp>
      <p:sp>
        <p:nvSpPr>
          <p:cNvPr id="13" name="!!titulo"/>
          <p:cNvSpPr txBox="1"/>
          <p:nvPr/>
        </p:nvSpPr>
        <p:spPr>
          <a:xfrm>
            <a:off x="762000" y="952500"/>
            <a:ext cx="10668000" cy="10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2000"/>
              </a:lnSpc>
            </a:pPr>
            <a:r>
              <a:rPr sz="3600" b="1">
                <a:solidFill>
                  <a:srgbClr val="F2F3F5"/>
                </a:solidFill>
                <a:latin typeface="Arial"/>
              </a:rPr>
              <a:t>Tres ideas para llevarse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2000" y="6477000"/>
            <a:ext cx="7620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Grupo 2 · Caso 4: Repensando los parquímetros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795000" y="6477000"/>
            <a:ext cx="635000" cy="1778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r">
              <a:lnSpc>
                <a:spcPct val="112000"/>
              </a:lnSpc>
            </a:pPr>
            <a:r>
              <a:rPr sz="1100" b="0">
                <a:solidFill>
                  <a:srgbClr val="A8AEB8"/>
                </a:solidFill>
                <a:latin typeface="Arial"/>
              </a:rPr>
              <a:t>15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2000" y="1970532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78000" y="2097532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La pantalla era la mitad del problema.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2000" y="3113532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78000" y="3240532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Lo que faltaba ya estaba en el equipo.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4256532"/>
            <a:ext cx="76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00000"/>
              </a:lnSpc>
            </a:pPr>
            <a:r>
              <a:rPr sz="6600" b="1">
                <a:solidFill>
                  <a:srgbClr val="5AA2FF"/>
                </a:solidFill>
                <a:latin typeface="Arial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78000" y="4383532"/>
            <a:ext cx="9652000" cy="952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3200" b="1">
                <a:solidFill>
                  <a:srgbClr val="F2F3F5"/>
                </a:solidFill>
                <a:latin typeface="Arial"/>
              </a:rPr>
              <a:t>Lo que se cobra se publica: sin confianza no hay sistema.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62000" y="5905500"/>
            <a:ext cx="10160000" cy="3175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12000"/>
              </a:lnSpc>
            </a:pPr>
            <a:r>
              <a:rPr sz="2400" b="0">
                <a:solidFill>
                  <a:srgbClr val="A8AEB8"/>
                </a:solidFill>
                <a:latin typeface="Arial"/>
              </a:rPr>
              <a:t>Gracias. ¿Preguntas?</a:t>
            </a: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Requires="p159">
      <p:transition spd="med">
        <p159:morph option="byObject"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Caso Harley-Davidson — SiL'K">
  <a:themeElements>
    <a:clrScheme name="Caso Harley-Davidson — SiL'K">
      <a:dk1>
        <a:srgbClr val="111114"/>
      </a:dk1>
      <a:lt1>
        <a:srgbClr val="F5F5F7"/>
      </a:lt1>
      <a:dk2>
        <a:srgbClr val="4A4A4D"/>
      </a:dk2>
      <a:lt2>
        <a:srgbClr val="DEDEE0"/>
      </a:lt2>
      <a:accent1>
        <a:srgbClr val="FF8A3D"/>
      </a:accent1>
      <a:accent2>
        <a:srgbClr val="C2500F"/>
      </a:accent2>
      <a:accent3>
        <a:srgbClr val="A1A1A8"/>
      </a:accent3>
      <a:accent4>
        <a:srgbClr val="6B6B72"/>
      </a:accent4>
      <a:accent5>
        <a:srgbClr val="8A8A91"/>
      </a:accent5>
      <a:accent6>
        <a:srgbClr val="9AA0A6"/>
      </a:accent6>
      <a:hlink>
        <a:srgbClr val="0563C1"/>
      </a:hlink>
      <a:folHlink>
        <a:srgbClr val="954F72"/>
      </a:folHlink>
    </a:clrScheme>
    <a:fontScheme name="Caso Harley-Davidson — SiL'K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Repensando los parquímetros: SIEP</dc:title>
  <dc:subject/>
  <dc:creator>Santiago Barrera</dc:creator>
  <cp:lastModifiedBy>Santiago Barrera</cp:lastModifiedBy>
  <cp:revision>1</cp:revision>
  <dcterms:created xsi:type="dcterms:W3CDTF">2026-10-13T01:09:24Z</dcterms:created>
  <dcterms:modified xsi:type="dcterms:W3CDTF">2026-10-13T01:09:24Z</dcterms:modified>
</cp:coreProperties>
</file>