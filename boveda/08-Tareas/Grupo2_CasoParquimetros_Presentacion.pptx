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Portada</a:t>
            </a:r>
          </a:p>
          <a:p/>
          <a:p>
            <a:r>
              <a:t>Buenos días. Somos el Grupo 2: Jemima Chavajay, Byron Par y Santiago Barrera. Presentamos el caso</a:t>
            </a:r>
          </a:p>
          <a:p>
            <a:r>
              <a:t>cuatro, Repensando los parquímetros. Nuestra propuesta se llama SIEP, Sistema Integrado de</a:t>
            </a:r>
          </a:p>
          <a:p>
            <a:r>
              <a:t>Estacionamiento en la vía Pública, y la vamos a defender desde las cuatro perspectivas que pide la</a:t>
            </a:r>
          </a:p>
          <a:p>
            <a:r>
              <a:t>consigna: arquitectura del software, calidad, arquitectura en el ciclo de vida y arquitectura de la</a:t>
            </a:r>
          </a:p>
          <a:p>
            <a:r>
              <a:t>información.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El caso en una lámina</a:t>
            </a:r>
          </a:p>
          <a:p/>
          <a:p>
            <a:r>
              <a:t>SERVIparq es el programa del gobierno de la Ciudad de México que opera los parquímetros. Su meta es</a:t>
            </a:r>
          </a:p>
          <a:p>
            <a:r>
              <a:t>urbana: que un cajón que vale hasta doscientos mil pesos deje de ser de uno solo y rote.</a:t>
            </a:r>
          </a:p>
          <a:p>
            <a:r>
              <a:t>[CLIC] Lo recaudado se reparte setenta por ciento para operar y treinta para la comunidad.</a:t>
            </a:r>
          </a:p>
          <a:p>
            <a:r>
              <a:t>[CLIC] En 2012 llega Margarita Patiño, hace un diagnóstico y encuentra seis problemas.</a:t>
            </a:r>
          </a:p>
          <a:p>
            <a:r>
              <a:t>[CLIC] Contrata a Smartmedia, una empresa de diseño. Le pide a la gente que haga tareas con el</a:t>
            </a:r>
          </a:p>
          <a:p>
            <a:r>
              <a:t>parquímetro y mide si encuentra y entiende la información. Hasta armaron una calle de mentira en una</a:t>
            </a:r>
          </a:p>
          <a:p>
            <a:r>
              <a:t>sala para que los participantes actuaran la situación. Nuestra conclusión: Smartmedia arregló la</a:t>
            </a:r>
          </a:p>
          <a:p>
            <a:r>
              <a:t>pantalla, pero tres de los seis problemas no tienen que ver con la pantalla.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Guatemala: cómo funciona y quién más cobra</a:t>
            </a:r>
          </a:p>
          <a:p/>
          <a:p>
            <a:r>
              <a:t>Trajimos el caso a Guatemala. En la capital, la municipalidad cobra tres quetzales por media hora</a:t>
            </a:r>
          </a:p>
          <a:p>
            <a:r>
              <a:t>según su acuerdo COM-40-2022, y la banqueta se pinta por colores: blanco se puede, rojo no. EMETRA,</a:t>
            </a:r>
          </a:p>
          <a:p>
            <a:r>
              <a:t>la empresa municipal de tránsito, anunció que se va a poder pagar con una aplicación.</a:t>
            </a:r>
          </a:p>
          <a:p>
            <a:r>
              <a:t>[CLIC] Y aquí aparece algo que el sistema no controla: personas que no son de la municipalidad y</a:t>
            </a:r>
          </a:p>
          <a:p>
            <a:r>
              <a:t>cobran por dejar estacionar, los cuidacarros. En el caso, que pasa en México, les dicen franeleros.</a:t>
            </a:r>
          </a:p>
          <a:p>
            <a:r>
              <a:t>En un solo operativo se retiraron dos mil quinientos objetos que apartaban lugares. En</a:t>
            </a:r>
          </a:p>
          <a:p>
            <a:r>
              <a:t>abril, en la zona 13, el Ministerio Público identificó a treinta y tres personas que cobraban hasta</a:t>
            </a:r>
          </a:p>
          <a:p>
            <a:r>
              <a:t>cincuenta dólares a turistas.</a:t>
            </a:r>
          </a:p>
          <a:p>
            <a:r>
              <a:t>[CLIC] Y Antigua: su marbete digital, MarbEx, casi duplicó la recaudación, de siete a doce</a:t>
            </a:r>
          </a:p>
          <a:p>
            <a:r>
              <a:t>millones, pero la Corte de Constitucionalidad suspendió justamente la base de datos de placas y la</a:t>
            </a:r>
          </a:p>
          <a:p>
            <a:r>
              <a:t>multa de quinientos quetzales. La lección: no basta con cobrar, hay que hacerlo con base legal y que</a:t>
            </a:r>
          </a:p>
          <a:p>
            <a:r>
              <a:t>la gente confíe. Le doy la palabra a Jemima, que les muestra los problemas.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Seis problemas, tres que no son de pantalla</a:t>
            </a:r>
          </a:p>
          <a:p/>
          <a:p>
            <a:r>
              <a:t>Ordenamos los seis problemas por su causa.</a:t>
            </a:r>
          </a:p>
          <a:p>
            <a:r>
              <a:t>[CLIC] Los de gobierno: vecinos que no fueron consultados y un sistema que se percibe corrupto</a:t>
            </a:r>
          </a:p>
          <a:p>
            <a:r>
              <a:t>porque nadie ve a dónde va el dinero.</a:t>
            </a:r>
          </a:p>
          <a:p>
            <a:r>
              <a:t>[CLIC] Los de información: instrucciones confusas y no saber cómo reclamar una multa.</a:t>
            </a:r>
          </a:p>
          <a:p>
            <a:r>
              <a:t>[CLIC] Los de capacidad: falta personal, pero el parquímetro ya podía cobrar con tarjeta y avisar</a:t>
            </a:r>
          </a:p>
          <a:p>
            <a:r>
              <a:t>vandalismo; esas funciones estaban apagadas.</a:t>
            </a:r>
          </a:p>
          <a:p>
            <a:r>
              <a:t>[CLIC] Y los cuidacarros, que el caso llama franeleros: apartan el lugar y cobran por él, o sea</a:t>
            </a:r>
          </a:p>
          <a:p>
            <a:r>
              <a:t>que le compiten al parquímetro por el mismo espacio.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Requisitos de desempeño y el 72 %</a:t>
            </a:r>
          </a:p>
          <a:p/>
          <a:p>
            <a:r>
              <a:t>Smartmedia acordó con SERVIparq qué tiene que poder hacer el conductor antes, durante y después de</a:t>
            </a:r>
          </a:p>
          <a:p>
            <a:r>
              <a:t>usar el parquímetro.</a:t>
            </a:r>
          </a:p>
          <a:p>
            <a:r>
              <a:t>[CLIC] Y le puso un número. Setenta y dos por ciento: el ochenta por ciento encuentra la</a:t>
            </a:r>
          </a:p>
          <a:p>
            <a:r>
              <a:t>información, porque la gente va con prisa, por el noventa por ciento que la usa bien.</a:t>
            </a:r>
          </a:p>
          <a:p>
            <a:r>
              <a:t>[CLIC] Nuestra mejora: el umbral por tarea, según lo que cuesta fallar. Pagar mal termina en una</a:t>
            </a:r>
          </a:p>
          <a:p>
            <a:r>
              <a:t>multa injusta, así que ahí pedimos ochenta y uno, el máximo del método. Byron les explica cómo lo</a:t>
            </a:r>
          </a:p>
          <a:p>
            <a:r>
              <a:t>resolvemos.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Byron · El negocio: cinco procesos</a:t>
            </a:r>
          </a:p>
          <a:p/>
          <a:p>
            <a:r>
              <a:t>Primero delimitamos el negocio: la gestión del estacionamiento en la vía pública. Los actores son el</a:t>
            </a:r>
          </a:p>
          <a:p>
            <a:r>
              <a:t>conductor, el comité vecinal, la Delegación, el área de tránsito, el banco y el proveedor del equipo.</a:t>
            </a:r>
          </a:p>
          <a:p>
            <a:r>
              <a:t>El verificador trabaja adentro, así que no es actor sino trabajador. Y el cuidacarros tampoco es</a:t>
            </a:r>
          </a:p>
          <a:p>
            <a:r>
              <a:t>actor: no participa en el negocio de forma legal, pero igual tenemos que tomarlo en cuenta.</a:t>
            </a:r>
          </a:p>
          <a:p>
            <a:r>
              <a:t>[CLIC] De ahí salen cinco procesos: concertar la zona, cobrar por placa, verificar y sancionar,</a:t>
            </a:r>
          </a:p>
          <a:p>
            <a:r>
              <a:t>rendir cuentas y mantener la red. Cada uno será un servicio.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Byron · Cuatro alternativas</a:t>
            </a:r>
          </a:p>
          <a:p/>
          <a:p>
            <a:r>
              <a:t>Evaluamos cuatro soluciones contra los seis problemas y los drivers.</a:t>
            </a:r>
          </a:p>
          <a:p>
            <a:r>
              <a:t>[CLIC] Uno: rediseñar solo la información. Barato, pero no toca la falta de personal.</a:t>
            </a:r>
          </a:p>
          <a:p>
            <a:r>
              <a:t>[CLIC] Dos: pagar con el número de placa, con monedas, tarjeta o celular, usando el mismo equipo que ya se compró.</a:t>
            </a:r>
          </a:p>
          <a:p>
            <a:r>
              <a:t>[CLIC] Tres: sensores por cajón y tarifa por demanda, como San Francisco. Caro y vulnerable al vandalismo.</a:t>
            </a:r>
          </a:p>
          <a:p>
            <a:r>
              <a:t>[CLIC] Cuatro: gobierno comunitario, que no es software pero resuelve consulta y confianza.</a:t>
            </a:r>
          </a:p>
          <a:p>
            <a:r>
              <a:t>Elegimos la dos como núcleo, con la uno adentro y la cuatro alrededor. La tres queda para después, cuando haya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Byron · La arquitectura: SOA con eventos</a:t>
            </a:r>
          </a:p>
          <a:p/>
          <a:p>
            <a:r>
              <a:t>El estilo principal es SOA, arquitectura orientada a servicios: cada uno de los cinco procesos es un</a:t>
            </a:r>
          </a:p>
          <a:p>
            <a:r>
              <a:t>servicio independiente. Es justo lo que dice la lámina de clase: desarrollar los procesos de negocio</a:t>
            </a:r>
          </a:p>
          <a:p>
            <a:r>
              <a:t>como servicios.</a:t>
            </a:r>
          </a:p>
          <a:p>
            <a:r>
              <a:t>[CLIC] Y los servicios se avisan con eventos. Cuando alguien paga, el parquímetro avisa «pago</a:t>
            </a:r>
          </a:p>
          <a:p>
            <a:r>
              <a:t>registrado» y a ese aviso reaccionan la base de datos, las notificaciones y el tablero, sin que el</a:t>
            </a:r>
          </a:p>
          <a:p>
            <a:r>
              <a:t>parquímetro tenga que conocerlos.</a:t>
            </a:r>
          </a:p>
          <a:p>
            <a:r>
              <a:t>[CLIC] Cuatro decisiones cambian el día a día: el pago se liga a la placa y desaparece el boleto;</a:t>
            </a:r>
          </a:p>
          <a:p>
            <a:r>
              <a:t>se encienden el pago con tarjeta y la alarma; la multa solo nace cuando el oficial confirma la</a:t>
            </a:r>
          </a:p>
          <a:p>
            <a:r>
              <a:t>evidencia; y todo lo cobrado se publica.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Byron · Despliegue</a:t>
            </a:r>
          </a:p>
          <a:p/>
          <a:p>
            <a:r>
              <a:t>Así se despliega. Arriba, el parquímetro, el teléfono del conductor, el del verificador y la consola</a:t>
            </a:r>
          </a:p>
          <a:p>
            <a:r>
              <a:t>de la Delegación. El parquímetro se conecta por la red celular y, si se cae la señal, sigue cobrando,</a:t>
            </a:r>
          </a:p>
          <a:p>
            <a:r>
              <a:t>guarda los pagos y los manda cuando vuelve la conexión. Al centro, la nube con los seis servicios, la mensajería, la base de datos y la analítica;</a:t>
            </a:r>
          </a:p>
          <a:p>
            <a:r>
              <a:t>abajo, una réplica en otra región; a la derecha, el banco y la autoridad de tránsito.</a:t>
            </a:r>
          </a:p>
          <a:p>
            <a:r>
              <a:t>Jemima les muestra cómo medimos que esto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Calidad: los números que se comprometen</a:t>
            </a:r>
          </a:p>
          <a:p/>
          <a:p>
            <a:r>
              <a:t>Usamos los dos modelos de ISO 9126 del programa: calidad del producto y calidad en uso.</a:t>
            </a:r>
          </a:p>
          <a:p>
            <a:r>
              <a:t>[CLIC] Eficacia: setenta y dos por ciento completa el pago sin ayuda.</a:t>
            </a:r>
          </a:p>
          <a:p>
            <a:r>
              <a:t>[CLIC] Rendimiento: el verificador sabe si una placa pagó en dos segundos.</a:t>
            </a:r>
          </a:p>
          <a:p>
            <a:r>
              <a:t>[CLIC] Disponibilidad: cero pagos perdidos aunque se caiga la red.</a:t>
            </a:r>
          </a:p>
          <a:p>
            <a:r>
              <a:t>[CLIC] Seguridad: el cien por ciento de las multas con foto, hora, ubicación y la firma del oficial.</a:t>
            </a:r>
          </a:p>
          <a:p>
            <a:r>
              <a:t>Cada entrega se acepta con una prueba de desempeño, ahora en la calle y con doce personas.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Arquitectura de la información</a:t>
            </a:r>
          </a:p>
          <a:p/>
          <a:p>
            <a:r>
              <a:t>La arquitectura de la información organiza los contenidos para que la gente los encuentre. La</a:t>
            </a:r>
          </a:p>
          <a:p>
            <a:r>
              <a:t>organizamos por momento de uso.</a:t>
            </a:r>
          </a:p>
          <a:p>
            <a:r>
              <a:t>[CLIC] Antes: la señal con el color de la banqueta y el mapa en la app.</a:t>
            </a:r>
          </a:p>
          <a:p>
            <a:r>
              <a:t>[CLIC] Durante: tres pasos, placa, tiempo y pago, con la tarifa siempre arriba.</a:t>
            </a:r>
          </a:p>
          <a:p>
            <a:r>
              <a:t>[CLIC] Después: comprobante con folio, aviso antes de vencer y cómo reclamar.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Prototipo</a:t>
            </a:r>
          </a:p>
          <a:p/>
          <a:p>
            <a:r>
              <a:t>Desarrollamos una parte del sistema: la pantalla del parquímetro. Usa el tarifario real de la</a:t>
            </a:r>
          </a:p>
          <a:p>
            <a:r>
              <a:t>capital y trae un modo de prueba que cronometra cada intento y calcula si llegamos al setenta y dos</a:t>
            </a:r>
          </a:p>
          <a:p>
            <a:r>
              <a:t>por ciento. Y en el paso de pago dice lo que el cuidacarros no quiere que se sepa: este es el único</a:t>
            </a:r>
          </a:p>
          <a:p>
            <a:r>
              <a:t>cobro. Santiago cierra con cómo se construye.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Arquitectura en el ciclo de vida</a:t>
            </a:r>
          </a:p>
          <a:p/>
          <a:p>
            <a:r>
              <a:t>Para elegir cómo trabajar usamos los siete factores de la clase. La pantalla no se sabe cómo debe</a:t>
            </a:r>
          </a:p>
          <a:p>
            <a:r>
              <a:t>quedar hasta probarla con gente, cada Delegación quiere algo distinto y hay riesgos fuertes al</a:t>
            </a:r>
          </a:p>
          <a:p>
            <a:r>
              <a:t>inicio. Por eso combinamos dos métodos.</a:t>
            </a:r>
          </a:p>
          <a:p>
            <a:r>
              <a:t>[CLIC] Por fuera, el modelo en espiral: en cada vuelta se revisan primero los riesgos, igual que</a:t>
            </a:r>
          </a:p>
          <a:p>
            <a:r>
              <a:t>hizo Smartmedia probando y corrigiendo. Por dentro,</a:t>
            </a:r>
          </a:p>
          <a:p>
            <a:r>
              <a:t>Scrum con los cuatro pasos de arquitectura de la lámina: especificar y priorizar casos de uso,</a:t>
            </a:r>
          </a:p>
          <a:p>
            <a:r>
              <a:t>arquitectura base en el primer sprint y refinamiento en cada sprint.</a:t>
            </a:r>
          </a:p>
          <a:p>
            <a:r>
              <a:t>[CLIC] Cuatro fases: concertación con la colonia piloto; pago por placa y verificación; app y red</a:t>
            </a:r>
          </a:p>
          <a:p>
            <a:r>
              <a:t>monitoreada; y, con datos, sensores.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Los cobros de personas ajenas</a:t>
            </a:r>
          </a:p>
          <a:p/>
          <a:p>
            <a:r>
              <a:t>Volvemos al cuidacarros, porque es el problema que más se parece a Guatemala.</a:t>
            </a:r>
          </a:p>
          <a:p>
            <a:r>
              <a:t>[CLIC] Información: la pantalla dice que es el único cobro.</a:t>
            </a:r>
          </a:p>
          <a:p>
            <a:r>
              <a:t>[CLIC] Software: el conductor puede reportar un cobro sin dar su nombre, y el sistema marca las</a:t>
            </a:r>
          </a:p>
          <a:p>
            <a:r>
              <a:t>cuadras que están llenas pero donde casi nadie paga: ahí hay alguien cobrando.</a:t>
            </a:r>
          </a:p>
          <a:p>
            <a:r>
              <a:t>[CLIC] Ciclo de vida: antes de instalar, contar cuántos cuidacarros hay y acordar con la</a:t>
            </a:r>
          </a:p>
          <a:p>
            <a:r>
              <a:t>Procuraduría de los Derechos Humanos cómo se actúa, como se hizo en Antigua.</a:t>
            </a:r>
          </a:p>
          <a:p>
            <a:r>
              <a:t>[CLIC] Y una opción para la Delegación: ofrecer trabajo formal de orientación, pagado con el treinta por ciento comunitario.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Cierre</a:t>
            </a:r>
          </a:p>
          <a:p/>
          <a:p>
            <a:r>
              <a:t>Tres ideas para llevarse. La pantalla era la mitad del problema. Las funciones que faltaban ya</a:t>
            </a:r>
          </a:p>
          <a:p>
            <a:r>
              <a:t>estaban en el equipo. Y lo que se cobra se publica, porque sin confianza no hay sistema. Gracias;</a:t>
            </a:r>
          </a:p>
          <a:p>
            <a:r>
              <a:t>con gusto respondemos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rking-meter-5AA2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825500"/>
            <a:ext cx="698500" cy="698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841500"/>
            <a:ext cx="1016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5AA2FF"/>
                </a:solidFill>
                <a:latin typeface="Arial"/>
              </a:rPr>
              <a:t>ANÁLISIS Y DISEÑO DE SISTEMAS II · TAREA 3 · CASO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159000"/>
            <a:ext cx="10795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2F3F5"/>
                </a:solidFill>
                <a:latin typeface="Arial"/>
              </a:rPr>
              <a:t>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0480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A8AEB8"/>
                </a:solidFill>
                <a:latin typeface="Arial"/>
              </a:rPr>
              <a:t>SIEP: una solución desde la arquitectura del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191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Santiago Julián Barrera Reyes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0" y="41910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Scrum Master · coordinador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6736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Jemima Solmaira Chavajay Quiejú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46736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Product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5156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Byron Josué Par Rancho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51562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Equipo de desarrollo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1016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A8AEB8"/>
                </a:solidFill>
                <a:latin typeface="Arial"/>
              </a:rPr>
              <a:t>Grupo 2 · ECYS, USAC · MBA. MSc. Claudia Rojas de Morán · octubre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EL CASO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SERVIparq quiere que el cajón rote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87500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Ciudad de México, 2012. Un cajón de estacionamiento vale hasta </a:t>
            </a:r>
            <a:r>
              <a:rPr sz="2000" b="1">
                <a:solidFill>
                  <a:srgbClr val="A8AEB8"/>
                </a:solidFill>
                <a:latin typeface="Arial"/>
              </a:rPr>
              <a:t>200 mil pesos</a:t>
            </a:r>
            <a:r>
              <a:rPr sz="2000" b="0">
                <a:solidFill>
                  <a:srgbClr val="A8AEB8"/>
                </a:solidFill>
                <a:latin typeface="Arial"/>
              </a:rPr>
              <a:t>: la meta es que lo usen muchos conductores, no uno solo.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62000" y="2502408"/>
            <a:ext cx="3429000" cy="3720592"/>
            <a:chOff x="762000" y="2502408"/>
            <a:chExt cx="3429000" cy="3720592"/>
          </a:xfrm>
        </p:grpSpPr>
        <p:sp>
          <p:nvSpPr>
            <p:cNvPr id="8" name="Rounded Rectangle 7"/>
            <p:cNvSpPr/>
            <p:nvPr/>
          </p:nvSpPr>
          <p:spPr>
            <a:xfrm>
              <a:off x="762000" y="2502408"/>
              <a:ext cx="3429000" cy="3720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16000" y="2731008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70 / 30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6000" y="3501898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Así se reparte lo cobrado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16000" y="4177538"/>
              <a:ext cx="2921000" cy="101559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70 % para operar y mantener los equipos.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30 % se reinvierte en la comunidad.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381500" y="2502408"/>
            <a:ext cx="3429000" cy="3720592"/>
            <a:chOff x="4381500" y="2502408"/>
            <a:chExt cx="3429000" cy="3720592"/>
          </a:xfrm>
        </p:grpSpPr>
        <p:sp>
          <p:nvSpPr>
            <p:cNvPr id="13" name="Rounded Rectangle 12"/>
            <p:cNvSpPr/>
            <p:nvPr/>
          </p:nvSpPr>
          <p:spPr>
            <a:xfrm>
              <a:off x="4381500" y="2502408"/>
              <a:ext cx="3429000" cy="3720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35500" y="2731008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6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35500" y="3501898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problemas en el diagnóstico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35500" y="4177538"/>
              <a:ext cx="2921000" cy="12694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Vecinos no consultados, cuidacarros, instrucciones confusas, reclamos sin respuesta, falta de personal y desconfianza.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8001000" y="2502408"/>
            <a:ext cx="3429000" cy="3720592"/>
            <a:chOff x="8001000" y="2502408"/>
            <a:chExt cx="3429000" cy="3720592"/>
          </a:xfrm>
        </p:grpSpPr>
        <p:sp>
          <p:nvSpPr>
            <p:cNvPr id="18" name="Rounded Rectangle 17"/>
            <p:cNvSpPr/>
            <p:nvPr/>
          </p:nvSpPr>
          <p:spPr>
            <a:xfrm>
              <a:off x="8001000" y="2502408"/>
              <a:ext cx="3429000" cy="3720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9" name="Picture 18" descr="users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55000" y="2731008"/>
              <a:ext cx="406400" cy="4064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8255000" y="3315208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Smartmedia mide con personas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255000" y="3990848"/>
              <a:ext cx="2921000" cy="15233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Pide tareas reales con el parquímetro y mide si la gente encuentra y entiende la información. Hasta recrearon una calle en una sala.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INVESTIGACIÓN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Guatemala: el cobro y los cuidacarros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3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62000" y="1714500"/>
            <a:ext cx="3429000" cy="4508500"/>
            <a:chOff x="762000" y="1714500"/>
            <a:chExt cx="3429000" cy="4508500"/>
          </a:xfrm>
        </p:grpSpPr>
        <p:sp>
          <p:nvSpPr>
            <p:cNvPr id="7" name="Rounded Rectangle 6"/>
            <p:cNvSpPr/>
            <p:nvPr/>
          </p:nvSpPr>
          <p:spPr>
            <a:xfrm>
              <a:off x="762000" y="1714500"/>
              <a:ext cx="3429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16000" y="1943100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Q3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16000" y="2713990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por cada 30 minutos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6000" y="3389630"/>
              <a:ext cx="2921000" cy="2031187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Acuerdo COM-40-2022 de la Municipalidad de Guatemala, vigente desde febrero de 2024. Banqueta por colores: blanco se puede, rojo no. EMETRA anunció pago por aplicación.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381500" y="1714500"/>
            <a:ext cx="3429000" cy="4508500"/>
            <a:chOff x="4381500" y="1714500"/>
            <a:chExt cx="3429000" cy="4508500"/>
          </a:xfrm>
        </p:grpSpPr>
        <p:sp>
          <p:nvSpPr>
            <p:cNvPr id="12" name="Rounded Rectangle 11"/>
            <p:cNvSpPr/>
            <p:nvPr/>
          </p:nvSpPr>
          <p:spPr>
            <a:xfrm>
              <a:off x="4381500" y="1714500"/>
              <a:ext cx="3429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635500" y="1943100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2,500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35500" y="2713990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objetos que apartaban lugares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35500" y="3389630"/>
              <a:ext cx="2921000" cy="228508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Retirados en un operativo de la Policía Municipal de Tránsito (2023). Cobrar por dejar estacionar podría ser extorsión: se denuncia al 1551. Zona 13, abril de 2026: 33 personas cobraban entre Q35 y US$50.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8001000" y="1714500"/>
            <a:ext cx="3429000" cy="4508500"/>
            <a:chOff x="8001000" y="1714500"/>
            <a:chExt cx="3429000" cy="4508500"/>
          </a:xfrm>
        </p:grpSpPr>
        <p:sp>
          <p:nvSpPr>
            <p:cNvPr id="17" name="Rounded Rectangle 16"/>
            <p:cNvSpPr/>
            <p:nvPr/>
          </p:nvSpPr>
          <p:spPr>
            <a:xfrm>
              <a:off x="8001000" y="1714500"/>
              <a:ext cx="3429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255000" y="1943100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Q12 M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255000" y="2713990"/>
              <a:ext cx="2921000" cy="8801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cobró MarbEx en 2025, Antigua Guatemala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255000" y="3683000"/>
              <a:ext cx="2921000" cy="1777289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Marbete digital por placa: Q7 M en 2024. En 2026 la Corte de Constitucionalidad suspendió la base de datos de placas y la multa de Q500.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LOS SEIS PROBLEMAS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Tres problemas no son de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4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62000" y="1714500"/>
            <a:ext cx="2540000" cy="4508500"/>
            <a:chOff x="762000" y="1714500"/>
            <a:chExt cx="2540000" cy="4508500"/>
          </a:xfrm>
        </p:grpSpPr>
        <p:sp>
          <p:nvSpPr>
            <p:cNvPr id="7" name="Rounded Rectangle 6"/>
            <p:cNvSpPr/>
            <p:nvPr/>
          </p:nvSpPr>
          <p:spPr>
            <a:xfrm>
              <a:off x="762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8" name="Picture 7" descr="users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1943100"/>
              <a:ext cx="406400" cy="4064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1016000" y="2527300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Gobierno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6000" y="3229610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P-01 Vecinos no consultados.</a:t>
              </a:r>
            </a:p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P-06 Nadie ve a dónde va el dinero.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429000" y="1714500"/>
            <a:ext cx="2540000" cy="4508500"/>
            <a:chOff x="3429000" y="1714500"/>
            <a:chExt cx="2540000" cy="4508500"/>
          </a:xfrm>
        </p:grpSpPr>
        <p:sp>
          <p:nvSpPr>
            <p:cNvPr id="12" name="Rounded Rectangle 11"/>
            <p:cNvSpPr/>
            <p:nvPr/>
          </p:nvSpPr>
          <p:spPr>
            <a:xfrm>
              <a:off x="3429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map-pin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3000" y="1943100"/>
              <a:ext cx="406400" cy="4064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83000" y="2527300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Información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683000" y="3229610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P-03 Instrucciones confusas y solo monedas.</a:t>
              </a:r>
            </a:p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P-04 No se sabe cómo reclamar una multa.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6096000" y="1714500"/>
            <a:ext cx="2540000" cy="4508500"/>
            <a:chOff x="6096000" y="1714500"/>
            <a:chExt cx="2540000" cy="4508500"/>
          </a:xfrm>
        </p:grpSpPr>
        <p:sp>
          <p:nvSpPr>
            <p:cNvPr id="17" name="Rounded Rectangle 16"/>
            <p:cNvSpPr/>
            <p:nvPr/>
          </p:nvSpPr>
          <p:spPr>
            <a:xfrm>
              <a:off x="6096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wrench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0000" y="1943100"/>
              <a:ext cx="406400" cy="4064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6350000" y="2527300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Capacidad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350000" y="3229610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P-05 Falta personal. El equipo ya podía cobrar con tarjeta y avisar vandalismo: estaba apagado.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763000" y="1714500"/>
            <a:ext cx="2667000" cy="4508500"/>
            <a:chOff x="8763000" y="1714500"/>
            <a:chExt cx="2667000" cy="4508500"/>
          </a:xfrm>
        </p:grpSpPr>
        <p:sp>
          <p:nvSpPr>
            <p:cNvPr id="22" name="Rounded Rectangle 21"/>
            <p:cNvSpPr/>
            <p:nvPr/>
          </p:nvSpPr>
          <p:spPr>
            <a:xfrm>
              <a:off x="8763000" y="1714500"/>
              <a:ext cx="2667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icture 22" descr="hand-coins-5AA2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17000" y="1943100"/>
              <a:ext cx="406400" cy="4064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9017000" y="2527300"/>
              <a:ext cx="2159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Cobro informal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017000" y="3229610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P-02 Cuidacarros («franeleros» en el caso): apartan el lugar y cobran por él.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REQUISITOS DE DESEMPEÑO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Qué debe lograr el conductor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1714500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500" y="1854200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Antes del uso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1590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Encontrar la zona, un cajón y su parquímetro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500" y="1714500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54200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Durante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590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Entender tarifa y tiempo máximo, y pagar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714500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1500" y="1854200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0" y="21590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Saber cuándo vence y cómo reclamar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762000" y="2952750"/>
            <a:ext cx="5207000" cy="3270250"/>
            <a:chOff x="762000" y="2952750"/>
            <a:chExt cx="5207000" cy="3270250"/>
          </a:xfrm>
        </p:grpSpPr>
        <p:sp>
          <p:nvSpPr>
            <p:cNvPr id="16" name="Rounded Rectangle 15"/>
            <p:cNvSpPr/>
            <p:nvPr/>
          </p:nvSpPr>
          <p:spPr>
            <a:xfrm>
              <a:off x="762000" y="2952750"/>
              <a:ext cx="5207000" cy="327025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16000" y="3181350"/>
              <a:ext cx="4699000" cy="10668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4298950"/>
              <a:ext cx="4699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el nivel que acordaron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4681220"/>
              <a:ext cx="4699000" cy="101559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80 % encuentra la información (va con prisa)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× 90 % la usa bien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= 72 % completa la tarea.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6223000" y="2952750"/>
            <a:ext cx="5207000" cy="3270250"/>
            <a:chOff x="6223000" y="2952750"/>
            <a:chExt cx="5207000" cy="3270250"/>
          </a:xfrm>
        </p:grpSpPr>
        <p:sp>
          <p:nvSpPr>
            <p:cNvPr id="21" name="Rounded Rectangle 20"/>
            <p:cNvSpPr/>
            <p:nvPr/>
          </p:nvSpPr>
          <p:spPr>
            <a:xfrm>
              <a:off x="6223000" y="2952750"/>
              <a:ext cx="5207000" cy="327025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77000" y="3181350"/>
              <a:ext cx="4699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Un número por tarea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77000" y="3651250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Pagar por placa (si falla, multa injusta)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096500" y="3651250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81 %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77000" y="4171950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Entender la tarifa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096500" y="4171950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477000" y="4692650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Saber cómo reclamar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096500" y="4692650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77000" y="5213350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Ubicar el número del parquímetro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096500" y="5213350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64 %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CASO DE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El negocio y sus cinco procesos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714500"/>
            <a:ext cx="3810000" cy="450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A8AEB8"/>
                </a:solidFill>
                <a:latin typeface="Arial"/>
              </a:rPr>
              <a:t>Negocio:</a:t>
            </a:r>
            <a:r>
              <a:rPr sz="1800" b="0">
                <a:solidFill>
                  <a:srgbClr val="A8AEB8"/>
                </a:solidFill>
                <a:latin typeface="Arial"/>
              </a:rPr>
              <a:t> gestionar el estacionamiento en la calle.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A8AEB8"/>
                </a:solidFill>
                <a:latin typeface="Arial"/>
              </a:rPr>
              <a:t>Actores:</a:t>
            </a:r>
            <a:r>
              <a:rPr sz="1800" b="0">
                <a:solidFill>
                  <a:srgbClr val="A8AEB8"/>
                </a:solidFill>
                <a:latin typeface="Arial"/>
              </a:rPr>
              <a:t> conductor, comité vecinal, Delegación, oficial de tránsito, banco y proveedor del parquímetro.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A8AEB8"/>
                </a:solidFill>
                <a:latin typeface="Arial"/>
              </a:rPr>
              <a:t>Trabajadores:</a:t>
            </a:r>
            <a:r>
              <a:rPr sz="1800" b="0">
                <a:solidFill>
                  <a:srgbClr val="A8AEB8"/>
                </a:solidFill>
                <a:latin typeface="Arial"/>
              </a:rPr>
              <a:t> el verificador y el personal de SERVIparq.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A8AEB8"/>
                </a:solidFill>
                <a:latin typeface="Arial"/>
              </a:rPr>
              <a:t>No es actor:</a:t>
            </a:r>
            <a:r>
              <a:rPr sz="1800" b="0">
                <a:solidFill>
                  <a:srgbClr val="A8AEB8"/>
                </a:solidFill>
                <a:latin typeface="Arial"/>
              </a:rPr>
              <a:t> el cuidacarros. No participa de forma legal, pero el diseño lo toma en cuenta.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887636" y="1587500"/>
            <a:ext cx="6607729" cy="4762500"/>
            <a:chOff x="4887636" y="1587500"/>
            <a:chExt cx="6607729" cy="4762500"/>
          </a:xfrm>
        </p:grpSpPr>
        <p:sp>
          <p:nvSpPr>
            <p:cNvPr id="8" name="Rounded Rectangle 7"/>
            <p:cNvSpPr/>
            <p:nvPr/>
          </p:nvSpPr>
          <p:spPr>
            <a:xfrm>
              <a:off x="4887636" y="1587500"/>
              <a:ext cx="6607729" cy="47625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9" name="Picture 8" descr="cdu-descomposicion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14636" y="1714500"/>
              <a:ext cx="6353729" cy="4508500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POSIBLES SOLUCIONES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Cuatro alternativas, una combinación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7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62000" y="1714500"/>
            <a:ext cx="2540000" cy="4508500"/>
            <a:chOff x="762000" y="1714500"/>
            <a:chExt cx="2540000" cy="4508500"/>
          </a:xfrm>
        </p:grpSpPr>
        <p:sp>
          <p:nvSpPr>
            <p:cNvPr id="7" name="Rounded Rectangle 6"/>
            <p:cNvSpPr/>
            <p:nvPr/>
          </p:nvSpPr>
          <p:spPr>
            <a:xfrm>
              <a:off x="762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16000" y="1943100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S-1 Rediseñar solo la información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16000" y="2952115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Barato y rápido. No resuelve la falta de personal ni la desconfianza.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6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DENTRO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429000" y="1714500"/>
            <a:ext cx="2540000" cy="4508500"/>
            <a:chOff x="3429000" y="1714500"/>
            <a:chExt cx="2540000" cy="4508500"/>
          </a:xfrm>
        </p:grpSpPr>
        <p:sp>
          <p:nvSpPr>
            <p:cNvPr id="12" name="Rounded Rectangle 11"/>
            <p:cNvSpPr/>
            <p:nvPr/>
          </p:nvSpPr>
          <p:spPr>
            <a:xfrm>
              <a:off x="3429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683000" y="1943100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S-2 Pago por placa, conectado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83000" y="2952115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Monedas, tarjeta o celular con el equipo ya comprado. Ataca 5 de los 6 problemas.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683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NÚCLEO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6096000" y="1714500"/>
            <a:ext cx="2540000" cy="4508500"/>
            <a:chOff x="6096000" y="1714500"/>
            <a:chExt cx="2540000" cy="4508500"/>
          </a:xfrm>
        </p:grpSpPr>
        <p:sp>
          <p:nvSpPr>
            <p:cNvPr id="17" name="Rounded Rectangle 16"/>
            <p:cNvSpPr/>
            <p:nvPr/>
          </p:nvSpPr>
          <p:spPr>
            <a:xfrm>
              <a:off x="6096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350000" y="1943100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S-3 Sensores y tarifa por demanda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350000" y="2952115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Como San Francisco. Caro, expuesto al vandalismo y sin datos todavía.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350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DESPUÉS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763000" y="1714500"/>
            <a:ext cx="2667000" cy="4508500"/>
            <a:chOff x="8763000" y="1714500"/>
            <a:chExt cx="2667000" cy="4508500"/>
          </a:xfrm>
        </p:grpSpPr>
        <p:sp>
          <p:nvSpPr>
            <p:cNvPr id="22" name="Rounded Rectangle 21"/>
            <p:cNvSpPr/>
            <p:nvPr/>
          </p:nvSpPr>
          <p:spPr>
            <a:xfrm>
              <a:off x="8763000" y="1714500"/>
              <a:ext cx="2667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017000" y="1943100"/>
              <a:ext cx="2159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S-4 Gobierno comunitario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017000" y="2952115"/>
              <a:ext cx="2159000" cy="107533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Consulta previa, tablero público y protocolo con los cuidacarros.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017000" y="5715000"/>
              <a:ext cx="2159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ALREDEDOR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DEL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Un servicio por proceso, con eventos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1714500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500" y="1714500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CDU-01</a:t>
            </a:r>
            <a:r>
              <a:rPr sz="1700" b="0">
                <a:solidFill>
                  <a:srgbClr val="F2F3F5"/>
                </a:solidFill>
                <a:latin typeface="Arial"/>
              </a:rPr>
              <a:t>  Zonas y comunidad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2324100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500" y="2324100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CDU-02</a:t>
            </a:r>
            <a:r>
              <a:rPr sz="1700" b="0">
                <a:solidFill>
                  <a:srgbClr val="F2F3F5"/>
                </a:solidFill>
                <a:latin typeface="Arial"/>
              </a:rPr>
              <a:t>  Cobro por placa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2933700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500" y="2933700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CDU-03</a:t>
            </a:r>
            <a:r>
              <a:rPr sz="1700" b="0">
                <a:solidFill>
                  <a:srgbClr val="F2F3F5"/>
                </a:solidFill>
                <a:latin typeface="Arial"/>
              </a:rPr>
              <a:t>  Verificación y sanción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3543300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3543300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CDU-04</a:t>
            </a:r>
            <a:r>
              <a:rPr sz="1700" b="0">
                <a:solidFill>
                  <a:srgbClr val="F2F3F5"/>
                </a:solidFill>
                <a:latin typeface="Arial"/>
              </a:rPr>
              <a:t>  Transparencia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2000" y="4152900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" y="4152900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CDU-05</a:t>
            </a:r>
            <a:r>
              <a:rPr sz="1700" b="0">
                <a:solidFill>
                  <a:srgbClr val="F2F3F5"/>
                </a:solidFill>
                <a:latin typeface="Arial"/>
              </a:rPr>
              <a:t>  Red y mantenimiento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5561215" y="1587500"/>
            <a:ext cx="5260570" cy="3429000"/>
            <a:chOff x="5561215" y="1587500"/>
            <a:chExt cx="5260570" cy="3429000"/>
          </a:xfrm>
        </p:grpSpPr>
        <p:sp>
          <p:nvSpPr>
            <p:cNvPr id="17" name="Rounded Rectangle 16"/>
            <p:cNvSpPr/>
            <p:nvPr/>
          </p:nvSpPr>
          <p:spPr>
            <a:xfrm>
              <a:off x="5561215" y="1587500"/>
              <a:ext cx="5260570" cy="34290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bloques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88215" y="1714500"/>
              <a:ext cx="5006570" cy="3175000"/>
            </a:xfrm>
            <a:prstGeom prst="rect">
              <a:avLst/>
            </a:prstGeom>
          </p:spPr>
        </p:pic>
      </p:grpSp>
      <p:grpSp>
        <p:nvGrpSpPr>
          <p:cNvPr id="19" name="Group 18"/>
          <p:cNvGrpSpPr/>
          <p:nvPr/>
        </p:nvGrpSpPr>
        <p:grpSpPr>
          <a:xfrm>
            <a:off x="762000" y="5270500"/>
            <a:ext cx="10636250" cy="952500"/>
            <a:chOff x="762000" y="5270500"/>
            <a:chExt cx="10636250" cy="952500"/>
          </a:xfrm>
        </p:grpSpPr>
        <p:sp>
          <p:nvSpPr>
            <p:cNvPr id="20" name="Rounded Rectangle 19"/>
            <p:cNvSpPr/>
            <p:nvPr/>
          </p:nvSpPr>
          <p:spPr>
            <a:xfrm>
              <a:off x="76200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5250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El pago queda en la placa: no hay boleto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46075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5125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Se encienden el pago con tarjeta y la alarma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15950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35000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La multa nace solo si el oficial la confirma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85825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04875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Todo lo cobrado se publica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DESPLIEGUE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Dónde corre cada parte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9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61145" y="1587500"/>
            <a:ext cx="7869709" cy="4762500"/>
            <a:chOff x="2161145" y="1587500"/>
            <a:chExt cx="7869709" cy="4762500"/>
          </a:xfrm>
        </p:grpSpPr>
        <p:sp>
          <p:nvSpPr>
            <p:cNvPr id="7" name="Rounded Rectangle 6"/>
            <p:cNvSpPr/>
            <p:nvPr/>
          </p:nvSpPr>
          <p:spPr>
            <a:xfrm>
              <a:off x="2161145" y="1587500"/>
              <a:ext cx="7869709" cy="47625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8" name="Picture 7" descr="despliegue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88145" y="1714500"/>
              <a:ext cx="7615709" cy="4508500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CALIDAD DEL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Los números que nos comprometemos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10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62000" y="1714500"/>
            <a:ext cx="2540000" cy="4508500"/>
            <a:chOff x="762000" y="1714500"/>
            <a:chExt cx="2540000" cy="4508500"/>
          </a:xfrm>
        </p:grpSpPr>
        <p:sp>
          <p:nvSpPr>
            <p:cNvPr id="7" name="Rounded Rectangle 6"/>
            <p:cNvSpPr/>
            <p:nvPr/>
          </p:nvSpPr>
          <p:spPr>
            <a:xfrm>
              <a:off x="762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16000" y="1943100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16000" y="2687320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Eficacia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6000" y="3069590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de los conductores paga sin ayuda la primera vez (calidad en uso, ISO 9126).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429000" y="1714500"/>
            <a:ext cx="2540000" cy="4508500"/>
            <a:chOff x="3429000" y="1714500"/>
            <a:chExt cx="2540000" cy="4508500"/>
          </a:xfrm>
        </p:grpSpPr>
        <p:sp>
          <p:nvSpPr>
            <p:cNvPr id="12" name="Rounded Rectangle 11"/>
            <p:cNvSpPr/>
            <p:nvPr/>
          </p:nvSpPr>
          <p:spPr>
            <a:xfrm>
              <a:off x="3429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683000" y="1943100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2 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83000" y="2687320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Rendimiento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683000" y="3069590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para que el verificador sepa si una placa pagó, en 95 de cada 100 consultas.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6096000" y="1714500"/>
            <a:ext cx="2540000" cy="4508500"/>
            <a:chOff x="6096000" y="1714500"/>
            <a:chExt cx="2540000" cy="4508500"/>
          </a:xfrm>
        </p:grpSpPr>
        <p:sp>
          <p:nvSpPr>
            <p:cNvPr id="17" name="Rounded Rectangle 16"/>
            <p:cNvSpPr/>
            <p:nvPr/>
          </p:nvSpPr>
          <p:spPr>
            <a:xfrm>
              <a:off x="6096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350000" y="1943100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350000" y="2687320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Disponibilidad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350000" y="3069590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pagos perdidos aunque se caiga la señal: el equipo guarda y reenvía.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763000" y="1714500"/>
            <a:ext cx="2667000" cy="4508500"/>
            <a:chOff x="8763000" y="1714500"/>
            <a:chExt cx="2667000" cy="4508500"/>
          </a:xfrm>
        </p:grpSpPr>
        <p:sp>
          <p:nvSpPr>
            <p:cNvPr id="22" name="Rounded Rectangle 21"/>
            <p:cNvSpPr/>
            <p:nvPr/>
          </p:nvSpPr>
          <p:spPr>
            <a:xfrm>
              <a:off x="8763000" y="1714500"/>
              <a:ext cx="2667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017000" y="1943100"/>
              <a:ext cx="2159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100 %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017000" y="2687320"/>
              <a:ext cx="2159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Seguridad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017000" y="3069590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de las multas con foto, hora, ubicación y confirmación del oficial.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DE LA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La información, por momento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87500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Organizar y nombrar los contenidos para que la persona encuentre lo que busca. No es la arquitectura del software.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62000" y="2502408"/>
            <a:ext cx="3429000" cy="3720592"/>
            <a:chOff x="762000" y="2502408"/>
            <a:chExt cx="3429000" cy="3720592"/>
          </a:xfrm>
        </p:grpSpPr>
        <p:sp>
          <p:nvSpPr>
            <p:cNvPr id="8" name="Rounded Rectangle 7"/>
            <p:cNvSpPr/>
            <p:nvPr/>
          </p:nvSpPr>
          <p:spPr>
            <a:xfrm>
              <a:off x="762000" y="2502408"/>
              <a:ext cx="3429000" cy="3720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9" name="Picture 8" descr="map-pin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2731008"/>
              <a:ext cx="406400" cy="4064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016000" y="3315208"/>
              <a:ext cx="2921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Antes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16000" y="3697478"/>
              <a:ext cx="2921000" cy="1702613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Señal con el color de la banqueta.</a:t>
              </a:r>
            </a:p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Mapa de la zona en la app.</a:t>
              </a:r>
            </a:p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Número grande del parquímetro.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381500" y="2502408"/>
            <a:ext cx="3429000" cy="3720592"/>
            <a:chOff x="4381500" y="2502408"/>
            <a:chExt cx="3429000" cy="3720592"/>
          </a:xfrm>
        </p:grpSpPr>
        <p:sp>
          <p:nvSpPr>
            <p:cNvPr id="13" name="Rounded Rectangle 12"/>
            <p:cNvSpPr/>
            <p:nvPr/>
          </p:nvSpPr>
          <p:spPr>
            <a:xfrm>
              <a:off x="4381500" y="2502408"/>
              <a:ext cx="3429000" cy="3720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parking-meter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35500" y="2731008"/>
              <a:ext cx="406400" cy="4064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4635500" y="3315208"/>
              <a:ext cx="2921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Durante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35500" y="3697478"/>
              <a:ext cx="2921000" cy="1702613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Tres pasos: placa, tiempo y pago.</a:t>
              </a:r>
            </a:p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La tarifa siempre arriba.</a:t>
              </a:r>
            </a:p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«Este es el único cobro».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8001000" y="2502408"/>
            <a:ext cx="3429000" cy="3720592"/>
            <a:chOff x="8001000" y="2502408"/>
            <a:chExt cx="3429000" cy="3720592"/>
          </a:xfrm>
        </p:grpSpPr>
        <p:sp>
          <p:nvSpPr>
            <p:cNvPr id="18" name="Rounded Rectangle 17"/>
            <p:cNvSpPr/>
            <p:nvPr/>
          </p:nvSpPr>
          <p:spPr>
            <a:xfrm>
              <a:off x="8001000" y="2502408"/>
              <a:ext cx="3429000" cy="3720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9" name="Picture 18" descr="bell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55000" y="2731008"/>
              <a:ext cx="406400" cy="4064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8255000" y="3315208"/>
              <a:ext cx="2921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Después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255000" y="3697478"/>
              <a:ext cx="2921000" cy="141884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Comprobante con folio y hora de vencimiento.</a:t>
              </a:r>
            </a:p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Aviso 10 min antes.</a:t>
              </a:r>
            </a:p>
            <a:p>
              <a:pPr algn="l">
                <a:lnSpc>
                  <a:spcPct val="112000"/>
                </a:lnSpc>
              </a:pPr>
              <a:r>
                <a:rPr sz="1900" b="0">
                  <a:solidFill>
                    <a:srgbClr val="A8AEB8"/>
                  </a:solidFill>
                  <a:latin typeface="Arial"/>
                </a:rPr>
                <a:t>Cómo reclamar o reportar un cobro.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PARTE DESARROLLADA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Prototipo: la pantalla del parquímetro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12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5000" y="1641852"/>
            <a:ext cx="10922000" cy="4209297"/>
            <a:chOff x="635000" y="1641852"/>
            <a:chExt cx="10922000" cy="4209297"/>
          </a:xfrm>
        </p:grpSpPr>
        <p:sp>
          <p:nvSpPr>
            <p:cNvPr id="7" name="Rounded Rectangle 6"/>
            <p:cNvSpPr/>
            <p:nvPr/>
          </p:nvSpPr>
          <p:spPr>
            <a:xfrm>
              <a:off x="635000" y="1641852"/>
              <a:ext cx="10922000" cy="4209297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8" name="Picture 7" descr="prototipo-cuatro-pantalla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2000" y="1768852"/>
              <a:ext cx="10668000" cy="3955297"/>
            </a:xfrm>
            <a:prstGeom prst="rect">
              <a:avLst/>
            </a:prstGeom>
          </p:spPr>
        </p:pic>
      </p:grpSp>
      <p:sp>
        <p:nvSpPr>
          <p:cNvPr id="9" name="TextBox 8"/>
          <p:cNvSpPr txBox="1"/>
          <p:nvPr/>
        </p:nvSpPr>
        <p:spPr>
          <a:xfrm>
            <a:off x="762000" y="5969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Tarifario real de la capital · pago por placa · aviso contra el cobro informal · modo de prueba que mide el 72 %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EN EL CICLO DE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Espiral por fuera, Scrum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587500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Siete factores de la clase: la pantalla se descubre probando, cada Delegación es distinta y hay riesgos fuertes al inicio.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62000" y="2502408"/>
            <a:ext cx="10668000" cy="1587500"/>
            <a:chOff x="762000" y="2502408"/>
            <a:chExt cx="10668000" cy="1587500"/>
          </a:xfrm>
        </p:grpSpPr>
        <p:sp>
          <p:nvSpPr>
            <p:cNvPr id="8" name="Rounded Rectangle 7"/>
            <p:cNvSpPr/>
            <p:nvPr/>
          </p:nvSpPr>
          <p:spPr>
            <a:xfrm>
              <a:off x="762000" y="2502408"/>
              <a:ext cx="5270500" cy="1587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16000" y="2680208"/>
              <a:ext cx="4826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Espiral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6000" y="3073908"/>
              <a:ext cx="4826000" cy="952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Cada vuelta empieza revisando los riesgos: legales, vandalismo y aceptación de los vecinos.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159500" y="2502408"/>
              <a:ext cx="5270500" cy="1587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413500" y="2680208"/>
              <a:ext cx="4826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Scrum con arquitectura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413500" y="3073908"/>
              <a:ext cx="4826000" cy="952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Pasos 1, 2, 4 y 9 de la lámina: especificar y priorizar casos de uso, arquitectura base en el primer sprint y refinarla en cada sprint.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762000" y="4280408"/>
            <a:ext cx="10636250" cy="1942592"/>
            <a:chOff x="762000" y="4280408"/>
            <a:chExt cx="10636250" cy="1942592"/>
          </a:xfrm>
        </p:grpSpPr>
        <p:sp>
          <p:nvSpPr>
            <p:cNvPr id="15" name="Rounded Rectangle 14"/>
            <p:cNvSpPr/>
            <p:nvPr/>
          </p:nvSpPr>
          <p:spPr>
            <a:xfrm>
              <a:off x="762000" y="4280408"/>
              <a:ext cx="2540000" cy="1942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52500" y="4458208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Fase 0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52500" y="4915408"/>
              <a:ext cx="2159000" cy="11805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F2F3F5"/>
                  </a:solidFill>
                  <a:latin typeface="Arial"/>
                </a:rPr>
                <a:t>Consulta en la colonia piloto y conteo de cuidacarros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460750" y="4280408"/>
              <a:ext cx="2540000" cy="1942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651250" y="4458208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Fase 1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651250" y="4915408"/>
              <a:ext cx="2159000" cy="11805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F2F3F5"/>
                  </a:solidFill>
                  <a:latin typeface="Arial"/>
                </a:rPr>
                <a:t>Pago por placa, verificación y multa con evidencia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159500" y="4280408"/>
              <a:ext cx="2540000" cy="1942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350000" y="4458208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Fase 2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350000" y="4915408"/>
              <a:ext cx="2159000" cy="11805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F2F3F5"/>
                  </a:solidFill>
                  <a:latin typeface="Arial"/>
                </a:rPr>
                <a:t>App del conductor, alarma y reportes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858250" y="4280408"/>
              <a:ext cx="2540000" cy="1942592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048750" y="4458208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Fase 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048750" y="4915408"/>
              <a:ext cx="2159000" cy="11805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F2F3F5"/>
                  </a:solidFill>
                  <a:latin typeface="Arial"/>
                </a:rPr>
                <a:t>Con datos: sensores y tarifa por demanda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FACTORES EXTERNOS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Ganarle al cobro informal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14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62000" y="1714500"/>
            <a:ext cx="2540000" cy="4508500"/>
            <a:chOff x="762000" y="1714500"/>
            <a:chExt cx="2540000" cy="4508500"/>
          </a:xfrm>
        </p:grpSpPr>
        <p:sp>
          <p:nvSpPr>
            <p:cNvPr id="7" name="Rounded Rectangle 6"/>
            <p:cNvSpPr/>
            <p:nvPr/>
          </p:nvSpPr>
          <p:spPr>
            <a:xfrm>
              <a:off x="762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8" name="Picture 7" descr="parking-meter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1943100"/>
              <a:ext cx="406400" cy="4064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1016000" y="2527300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Información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6000" y="3229610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La pantalla y la señal dicen que el único cobro es el del parquímetro, y cuánto es.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429000" y="1714500"/>
            <a:ext cx="2540000" cy="4508500"/>
            <a:chOff x="3429000" y="1714500"/>
            <a:chExt cx="2540000" cy="4508500"/>
          </a:xfrm>
        </p:grpSpPr>
        <p:sp>
          <p:nvSpPr>
            <p:cNvPr id="12" name="Rounded Rectangle 11"/>
            <p:cNvSpPr/>
            <p:nvPr/>
          </p:nvSpPr>
          <p:spPr>
            <a:xfrm>
              <a:off x="3429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smartphone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3000" y="1943100"/>
              <a:ext cx="406400" cy="4064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83000" y="2527300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Software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683000" y="3229610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Reporte sin dar el nombre. El sistema marca las cuadras llenas donde casi nadie paga.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6096000" y="1714500"/>
            <a:ext cx="2540000" cy="4508500"/>
            <a:chOff x="6096000" y="1714500"/>
            <a:chExt cx="2540000" cy="4508500"/>
          </a:xfrm>
        </p:grpSpPr>
        <p:sp>
          <p:nvSpPr>
            <p:cNvPr id="17" name="Rounded Rectangle 16"/>
            <p:cNvSpPr/>
            <p:nvPr/>
          </p:nvSpPr>
          <p:spPr>
            <a:xfrm>
              <a:off x="6096000" y="1714500"/>
              <a:ext cx="2540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shield-check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0000" y="1943100"/>
              <a:ext cx="406400" cy="4064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6350000" y="2527300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Ciclo de vida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350000" y="3229610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Antes de instalar: contar a los cuidacarros y acordar un protocolo con la PDH, como en Antigua.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763000" y="1714500"/>
            <a:ext cx="2667000" cy="4508500"/>
            <a:chOff x="8763000" y="1714500"/>
            <a:chExt cx="2667000" cy="4508500"/>
          </a:xfrm>
        </p:grpSpPr>
        <p:sp>
          <p:nvSpPr>
            <p:cNvPr id="22" name="Rounded Rectangle 21"/>
            <p:cNvSpPr/>
            <p:nvPr/>
          </p:nvSpPr>
          <p:spPr>
            <a:xfrm>
              <a:off x="8763000" y="1714500"/>
              <a:ext cx="2667000" cy="4508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icture 22" descr="hand-coins-5AA2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17000" y="1943100"/>
              <a:ext cx="406400" cy="4064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9017000" y="2527300"/>
              <a:ext cx="2159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Opción para la Delegación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017000" y="3229610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Trabajo formal de orientación al usuario, pagado con el 30 % comunitario.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334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00100"/>
            <a:ext cx="1066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2F3F5"/>
                </a:solidFill>
                <a:latin typeface="Arial"/>
              </a:rPr>
              <a:t>Tres ideas para llevarse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8000" y="2032000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La pantalla era la mitad del problema.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048000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3175000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Lo que faltaba ya estaba en el equipo.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191000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8000" y="4318000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Lo que se cobra se publica: sin confianza no hay sistema.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905500"/>
            <a:ext cx="1016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0">
                <a:solidFill>
                  <a:srgbClr val="A8AEB8"/>
                </a:solidFill>
                <a:latin typeface="Arial"/>
              </a:rPr>
              <a:t>Gracias. ¿Preguntas?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aso Harley-Davidson — SiL'K">
  <a:themeElements>
    <a:clrScheme name="Caso Harley-Davidson — SiL'K">
      <a:dk1>
        <a:srgbClr val="111114"/>
      </a:dk1>
      <a:lt1>
        <a:srgbClr val="F5F5F7"/>
      </a:lt1>
      <a:dk2>
        <a:srgbClr val="4A4A4D"/>
      </a:dk2>
      <a:lt2>
        <a:srgbClr val="DEDEE0"/>
      </a:lt2>
      <a:accent1>
        <a:srgbClr val="FF8A3D"/>
      </a:accent1>
      <a:accent2>
        <a:srgbClr val="C2500F"/>
      </a:accent2>
      <a:accent3>
        <a:srgbClr val="A1A1A8"/>
      </a:accent3>
      <a:accent4>
        <a:srgbClr val="6B6B72"/>
      </a:accent4>
      <a:accent5>
        <a:srgbClr val="8A8A91"/>
      </a:accent5>
      <a:accent6>
        <a:srgbClr val="9AA0A6"/>
      </a:accent6>
      <a:hlink>
        <a:srgbClr val="0563C1"/>
      </a:hlink>
      <a:folHlink>
        <a:srgbClr val="954F72"/>
      </a:folHlink>
    </a:clrScheme>
    <a:fontScheme name="Caso Harley-Davidson — SiL'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Repensando los parquímetros: SIEP</dc:title>
  <dc:subject/>
  <dc:creator>Santiago Barrera</dc:creator>
  <cp:lastModifiedBy>Santiago Barrera</cp:lastModifiedBy>
  <cp:revision>1</cp:revision>
  <dcterms:created xsi:type="dcterms:W3CDTF">2026-10-13T01:09:24Z</dcterms:created>
  <dcterms:modified xsi:type="dcterms:W3CDTF">2026-10-13T01:09:24Z</dcterms:modified>
</cp:coreProperties>
</file>